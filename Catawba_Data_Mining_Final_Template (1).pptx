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129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archive.ics.uci.edu/dataset/45/heart+disease"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archive.ics.uci.edu/dataset/45/heart+disea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B"/>
        </a:solidFill>
        <a:effectLst/>
      </p:bgPr>
    </p:bg>
    <p:spTree>
      <p:nvGrpSpPr>
        <p:cNvPr id="1" name=""/>
        <p:cNvGrpSpPr/>
        <p:nvPr/>
      </p:nvGrpSpPr>
      <p:grpSpPr>
        <a:xfrm>
          <a:off x="0" y="0"/>
          <a:ext cx="0" cy="0"/>
          <a:chOff x="0" y="0"/>
          <a:chExt cx="0" cy="0"/>
        </a:xfrm>
      </p:grpSpPr>
      <p:sp>
        <p:nvSpPr>
          <p:cNvPr id="2" name="Shape 0"/>
          <p:cNvSpPr/>
          <p:nvPr/>
        </p:nvSpPr>
        <p:spPr>
          <a:xfrm>
            <a:off x="9265615" y="0"/>
            <a:ext cx="2926080" cy="228600"/>
          </a:xfrm>
          <a:prstGeom prst="rect">
            <a:avLst/>
          </a:prstGeom>
          <a:solidFill>
            <a:srgbClr val="C8102E"/>
          </a:solidFill>
          <a:ln w="12700">
            <a:solidFill>
              <a:srgbClr val="C8102E"/>
            </a:solidFill>
            <a:prstDash val="solid"/>
          </a:ln>
        </p:spPr>
        <p:txBody>
          <a:bodyPr/>
          <a:lstStyle/>
          <a:p>
            <a:endParaRPr lang="en-US"/>
          </a:p>
        </p:txBody>
      </p:sp>
      <p:sp>
        <p:nvSpPr>
          <p:cNvPr id="3" name="Shape 1"/>
          <p:cNvSpPr/>
          <p:nvPr/>
        </p:nvSpPr>
        <p:spPr>
          <a:xfrm>
            <a:off x="9265615" y="228600"/>
            <a:ext cx="2926080" cy="36576"/>
          </a:xfrm>
          <a:prstGeom prst="rect">
            <a:avLst/>
          </a:prstGeom>
          <a:solidFill>
            <a:srgbClr val="FFFFFF"/>
          </a:solidFill>
          <a:ln w="12700">
            <a:solidFill>
              <a:srgbClr val="FFFFFF"/>
            </a:solidFill>
            <a:prstDash val="solid"/>
          </a:ln>
        </p:spPr>
        <p:txBody>
          <a:bodyPr/>
          <a:lstStyle/>
          <a:p>
            <a:endParaRPr lang="en-US"/>
          </a:p>
        </p:txBody>
      </p:sp>
      <p:sp>
        <p:nvSpPr>
          <p:cNvPr id="4" name="Shape 2"/>
          <p:cNvSpPr/>
          <p:nvPr/>
        </p:nvSpPr>
        <p:spPr>
          <a:xfrm>
            <a:off x="0" y="6537960"/>
            <a:ext cx="320040" cy="320040"/>
          </a:xfrm>
          <a:prstGeom prst="rect">
            <a:avLst/>
          </a:prstGeom>
          <a:solidFill>
            <a:srgbClr val="C8102E"/>
          </a:solidFill>
          <a:ln w="12700">
            <a:solidFill>
              <a:srgbClr val="C8102E"/>
            </a:solidFill>
            <a:prstDash val="solid"/>
          </a:ln>
        </p:spPr>
        <p:txBody>
          <a:bodyPr/>
          <a:lstStyle/>
          <a:p>
            <a:endParaRPr lang="en-US"/>
          </a:p>
        </p:txBody>
      </p:sp>
      <p:sp>
        <p:nvSpPr>
          <p:cNvPr id="5" name="Text 3"/>
          <p:cNvSpPr/>
          <p:nvPr/>
        </p:nvSpPr>
        <p:spPr>
          <a:xfrm>
            <a:off x="6429070" y="246888"/>
            <a:ext cx="5486400" cy="5486400"/>
          </a:xfrm>
          <a:prstGeom prst="rect">
            <a:avLst/>
          </a:prstGeom>
          <a:noFill/>
          <a:ln/>
        </p:spPr>
        <p:txBody>
          <a:bodyPr wrap="square" lIns="0" tIns="0" rIns="0" bIns="0" rtlCol="0" anchor="ctr"/>
          <a:lstStyle/>
          <a:p>
            <a:pPr marL="0" indent="0" algn="r">
              <a:buNone/>
            </a:pPr>
            <a:r>
              <a:rPr lang="en-US" sz="50000" b="1" dirty="0">
                <a:solidFill>
                  <a:srgbClr val="00143D"/>
                </a:solidFill>
                <a:latin typeface="Georgia" pitchFamily="34" charset="0"/>
                <a:ea typeface="Georgia" pitchFamily="34" charset="-122"/>
                <a:cs typeface="Georgia" pitchFamily="34" charset="-120"/>
              </a:rPr>
              <a:t>C</a:t>
            </a:r>
            <a:endParaRPr lang="en-US" sz="50000" dirty="0"/>
          </a:p>
        </p:txBody>
      </p:sp>
      <p:sp>
        <p:nvSpPr>
          <p:cNvPr id="6" name="Text 4"/>
          <p:cNvSpPr/>
          <p:nvPr/>
        </p:nvSpPr>
        <p:spPr>
          <a:xfrm>
            <a:off x="731520" y="640080"/>
            <a:ext cx="6400800" cy="365760"/>
          </a:xfrm>
          <a:prstGeom prst="rect">
            <a:avLst/>
          </a:prstGeom>
          <a:noFill/>
          <a:ln/>
        </p:spPr>
        <p:txBody>
          <a:bodyPr wrap="square" lIns="0" tIns="0" rIns="0" bIns="0" rtlCol="0" anchor="ctr"/>
          <a:lstStyle/>
          <a:p>
            <a:pPr marL="0" indent="0">
              <a:buNone/>
            </a:pPr>
            <a:r>
              <a:rPr lang="en-US" sz="1200" b="1" kern="0" spc="800" dirty="0">
                <a:solidFill>
                  <a:srgbClr val="FFFFFF"/>
                </a:solidFill>
                <a:latin typeface="Calibri" pitchFamily="34" charset="0"/>
                <a:ea typeface="Calibri" pitchFamily="34" charset="-122"/>
                <a:cs typeface="Calibri" pitchFamily="34" charset="-120"/>
              </a:rPr>
              <a:t>CATAWBA COLLEGE</a:t>
            </a:r>
            <a:endParaRPr lang="en-US" sz="1200" dirty="0"/>
          </a:p>
        </p:txBody>
      </p:sp>
      <p:sp>
        <p:nvSpPr>
          <p:cNvPr id="7" name="Shape 5"/>
          <p:cNvSpPr/>
          <p:nvPr/>
        </p:nvSpPr>
        <p:spPr>
          <a:xfrm>
            <a:off x="731520" y="1051560"/>
            <a:ext cx="731520" cy="45720"/>
          </a:xfrm>
          <a:prstGeom prst="rect">
            <a:avLst/>
          </a:prstGeom>
          <a:solidFill>
            <a:srgbClr val="C8102E"/>
          </a:solidFill>
          <a:ln w="12700">
            <a:solidFill>
              <a:srgbClr val="C8102E"/>
            </a:solidFill>
            <a:prstDash val="solid"/>
          </a:ln>
        </p:spPr>
        <p:txBody>
          <a:bodyPr/>
          <a:lstStyle/>
          <a:p>
            <a:endParaRPr lang="en-US"/>
          </a:p>
        </p:txBody>
      </p:sp>
      <p:sp>
        <p:nvSpPr>
          <p:cNvPr id="8" name="Text 6"/>
          <p:cNvSpPr/>
          <p:nvPr/>
        </p:nvSpPr>
        <p:spPr>
          <a:xfrm>
            <a:off x="731520" y="1143000"/>
            <a:ext cx="7315200" cy="320040"/>
          </a:xfrm>
          <a:prstGeom prst="rect">
            <a:avLst/>
          </a:prstGeom>
          <a:noFill/>
          <a:ln/>
        </p:spPr>
        <p:txBody>
          <a:bodyPr wrap="square" lIns="0" tIns="0" rIns="0" bIns="0" rtlCol="0" anchor="ctr"/>
          <a:lstStyle/>
          <a:p>
            <a:pPr marL="0" indent="0">
              <a:buNone/>
            </a:pPr>
            <a:r>
              <a:rPr lang="en-US" sz="1100" kern="0" spc="400" dirty="0">
                <a:solidFill>
                  <a:srgbClr val="A9B8D4"/>
                </a:solidFill>
                <a:latin typeface="Calibri" pitchFamily="34" charset="0"/>
                <a:ea typeface="Calibri" pitchFamily="34" charset="-122"/>
                <a:cs typeface="Calibri" pitchFamily="34" charset="-120"/>
              </a:rPr>
              <a:t>DATA MINING  ·  FINAL PROJECT</a:t>
            </a:r>
            <a:endParaRPr lang="en-US" sz="1100" dirty="0"/>
          </a:p>
        </p:txBody>
      </p:sp>
      <p:sp>
        <p:nvSpPr>
          <p:cNvPr id="9" name="Text 7"/>
          <p:cNvSpPr/>
          <p:nvPr/>
        </p:nvSpPr>
        <p:spPr>
          <a:xfrm>
            <a:off x="731520" y="2011680"/>
            <a:ext cx="10058400" cy="1051560"/>
          </a:xfrm>
          <a:prstGeom prst="rect">
            <a:avLst/>
          </a:prstGeom>
          <a:noFill/>
          <a:ln/>
        </p:spPr>
        <p:txBody>
          <a:bodyPr wrap="square" lIns="0" tIns="0" rIns="0" bIns="0" rtlCol="0" anchor="ctr"/>
          <a:lstStyle/>
          <a:p>
            <a:pPr marL="0" indent="0">
              <a:buNone/>
            </a:pPr>
            <a:r>
              <a:rPr lang="en-US" sz="7800" b="1" dirty="0">
                <a:solidFill>
                  <a:srgbClr val="FFFFFF"/>
                </a:solidFill>
                <a:latin typeface="Georgia" pitchFamily="34" charset="0"/>
                <a:ea typeface="Georgia" pitchFamily="34" charset="-122"/>
                <a:cs typeface="Georgia" pitchFamily="34" charset="-120"/>
              </a:rPr>
              <a:t>Predicting Heart Disease</a:t>
            </a:r>
            <a:endParaRPr lang="en-US" sz="7800" dirty="0"/>
          </a:p>
        </p:txBody>
      </p:sp>
      <p:sp>
        <p:nvSpPr>
          <p:cNvPr id="10" name="Text 8"/>
          <p:cNvSpPr/>
          <p:nvPr/>
        </p:nvSpPr>
        <p:spPr>
          <a:xfrm>
            <a:off x="731520" y="2971800"/>
            <a:ext cx="10058400" cy="1051560"/>
          </a:xfrm>
          <a:prstGeom prst="rect">
            <a:avLst/>
          </a:prstGeom>
          <a:noFill/>
          <a:ln/>
        </p:spPr>
        <p:txBody>
          <a:bodyPr wrap="square" lIns="0" tIns="0" rIns="0" bIns="0" rtlCol="0" anchor="ctr"/>
          <a:lstStyle/>
          <a:p>
            <a:pPr marL="0" indent="0">
              <a:buNone/>
            </a:pPr>
            <a:endParaRPr lang="en-US" sz="7800" dirty="0"/>
          </a:p>
        </p:txBody>
      </p:sp>
      <p:sp>
        <p:nvSpPr>
          <p:cNvPr id="11" name="Text 9"/>
          <p:cNvSpPr/>
          <p:nvPr/>
        </p:nvSpPr>
        <p:spPr>
          <a:xfrm>
            <a:off x="731520" y="4160520"/>
            <a:ext cx="10058400" cy="365760"/>
          </a:xfrm>
          <a:prstGeom prst="rect">
            <a:avLst/>
          </a:prstGeom>
          <a:noFill/>
          <a:ln/>
        </p:spPr>
        <p:txBody>
          <a:bodyPr wrap="square" lIns="0" tIns="0" rIns="0" bIns="0" rtlCol="0" anchor="ctr"/>
          <a:lstStyle/>
          <a:p>
            <a:pPr marL="0" indent="0">
              <a:buNone/>
            </a:pPr>
            <a:r>
              <a:rPr lang="en-US" sz="1600" i="1" dirty="0">
                <a:solidFill>
                  <a:srgbClr val="CBD5E1"/>
                </a:solidFill>
                <a:latin typeface="Calibri" pitchFamily="34" charset="0"/>
                <a:ea typeface="Calibri" pitchFamily="34" charset="-122"/>
                <a:cs typeface="Calibri" pitchFamily="34" charset="-120"/>
              </a:rPr>
              <a:t>Supervised Learning  ·  End-to-End Modeling Workflow</a:t>
            </a:r>
            <a:endParaRPr lang="en-US" sz="1600" dirty="0"/>
          </a:p>
        </p:txBody>
      </p:sp>
      <p:sp>
        <p:nvSpPr>
          <p:cNvPr id="12" name="Shape 10"/>
          <p:cNvSpPr/>
          <p:nvPr/>
        </p:nvSpPr>
        <p:spPr>
          <a:xfrm>
            <a:off x="731520" y="4937760"/>
            <a:ext cx="457200" cy="36576"/>
          </a:xfrm>
          <a:prstGeom prst="rect">
            <a:avLst/>
          </a:prstGeom>
          <a:solidFill>
            <a:srgbClr val="C8102E"/>
          </a:solidFill>
          <a:ln w="12700">
            <a:solidFill>
              <a:srgbClr val="C8102E"/>
            </a:solidFill>
            <a:prstDash val="solid"/>
          </a:ln>
        </p:spPr>
        <p:txBody>
          <a:bodyPr/>
          <a:lstStyle/>
          <a:p>
            <a:endParaRPr lang="en-US"/>
          </a:p>
        </p:txBody>
      </p:sp>
      <p:sp>
        <p:nvSpPr>
          <p:cNvPr id="13" name="Text 11"/>
          <p:cNvSpPr/>
          <p:nvPr/>
        </p:nvSpPr>
        <p:spPr>
          <a:xfrm>
            <a:off x="731520" y="5029200"/>
            <a:ext cx="329184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PROJECT TITLE</a:t>
            </a:r>
            <a:endParaRPr lang="en-US" sz="1000" dirty="0"/>
          </a:p>
        </p:txBody>
      </p:sp>
      <p:sp>
        <p:nvSpPr>
          <p:cNvPr id="14" name="Text 12"/>
          <p:cNvSpPr/>
          <p:nvPr/>
        </p:nvSpPr>
        <p:spPr>
          <a:xfrm>
            <a:off x="731520" y="5349240"/>
            <a:ext cx="3291840" cy="548640"/>
          </a:xfrm>
          <a:prstGeom prst="rect">
            <a:avLst/>
          </a:prstGeom>
          <a:noFill/>
          <a:ln/>
        </p:spPr>
        <p:txBody>
          <a:bodyPr wrap="square" lIns="0" tIns="0" rIns="0" bIns="0" rtlCol="0" anchor="ctr"/>
          <a:lstStyle/>
          <a:p>
            <a:pPr marL="0" indent="0">
              <a:buNone/>
            </a:pPr>
            <a:r>
              <a:rPr lang="en-US" sz="2000" i="1" dirty="0">
                <a:solidFill>
                  <a:srgbClr val="FFFFFF"/>
                </a:solidFill>
                <a:latin typeface="Georgia" pitchFamily="34" charset="0"/>
                <a:ea typeface="Georgia" pitchFamily="34" charset="-122"/>
                <a:cs typeface="Georgia" pitchFamily="34" charset="-120"/>
              </a:rPr>
              <a:t>Predicting Heart Disease</a:t>
            </a:r>
            <a:endParaRPr lang="en-US" sz="2000" dirty="0"/>
          </a:p>
        </p:txBody>
      </p:sp>
      <p:sp>
        <p:nvSpPr>
          <p:cNvPr id="15" name="Shape 13"/>
          <p:cNvSpPr/>
          <p:nvPr/>
        </p:nvSpPr>
        <p:spPr>
          <a:xfrm>
            <a:off x="4206240" y="4937760"/>
            <a:ext cx="457200" cy="36576"/>
          </a:xfrm>
          <a:prstGeom prst="rect">
            <a:avLst/>
          </a:prstGeom>
          <a:solidFill>
            <a:srgbClr val="C8102E"/>
          </a:solidFill>
          <a:ln w="12700">
            <a:solidFill>
              <a:srgbClr val="C8102E"/>
            </a:solidFill>
            <a:prstDash val="solid"/>
          </a:ln>
        </p:spPr>
        <p:txBody>
          <a:bodyPr/>
          <a:lstStyle/>
          <a:p>
            <a:endParaRPr lang="en-US"/>
          </a:p>
        </p:txBody>
      </p:sp>
      <p:sp>
        <p:nvSpPr>
          <p:cNvPr id="16" name="Text 14"/>
          <p:cNvSpPr/>
          <p:nvPr/>
        </p:nvSpPr>
        <p:spPr>
          <a:xfrm>
            <a:off x="4206240" y="5029200"/>
            <a:ext cx="329184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STUDENT NAME</a:t>
            </a:r>
            <a:endParaRPr lang="en-US" sz="1000" dirty="0"/>
          </a:p>
        </p:txBody>
      </p:sp>
      <p:sp>
        <p:nvSpPr>
          <p:cNvPr id="17" name="Text 15"/>
          <p:cNvSpPr/>
          <p:nvPr/>
        </p:nvSpPr>
        <p:spPr>
          <a:xfrm>
            <a:off x="4206240" y="5349240"/>
            <a:ext cx="3291840" cy="548640"/>
          </a:xfrm>
          <a:prstGeom prst="rect">
            <a:avLst/>
          </a:prstGeom>
          <a:noFill/>
          <a:ln/>
        </p:spPr>
        <p:txBody>
          <a:bodyPr wrap="square" lIns="0" tIns="0" rIns="0" bIns="0" rtlCol="0" anchor="ctr"/>
          <a:lstStyle/>
          <a:p>
            <a:pPr marL="0" indent="0">
              <a:buNone/>
            </a:pPr>
            <a:r>
              <a:rPr lang="en-US" sz="2000" i="1" dirty="0">
                <a:solidFill>
                  <a:srgbClr val="FFFFFF"/>
                </a:solidFill>
                <a:latin typeface="Georgia" pitchFamily="34" charset="0"/>
                <a:ea typeface="Georgia" pitchFamily="34" charset="-122"/>
                <a:cs typeface="Georgia" pitchFamily="34" charset="-120"/>
              </a:rPr>
              <a:t>Eric Bass</a:t>
            </a:r>
            <a:endParaRPr lang="en-US" sz="2000" dirty="0"/>
          </a:p>
        </p:txBody>
      </p:sp>
      <p:sp>
        <p:nvSpPr>
          <p:cNvPr id="18" name="Shape 16"/>
          <p:cNvSpPr/>
          <p:nvPr/>
        </p:nvSpPr>
        <p:spPr>
          <a:xfrm>
            <a:off x="7680960" y="4937760"/>
            <a:ext cx="457200" cy="36576"/>
          </a:xfrm>
          <a:prstGeom prst="rect">
            <a:avLst/>
          </a:prstGeom>
          <a:solidFill>
            <a:srgbClr val="C8102E"/>
          </a:solidFill>
          <a:ln w="12700">
            <a:solidFill>
              <a:srgbClr val="C8102E"/>
            </a:solidFill>
            <a:prstDash val="solid"/>
          </a:ln>
        </p:spPr>
        <p:txBody>
          <a:bodyPr/>
          <a:lstStyle/>
          <a:p>
            <a:endParaRPr lang="en-US"/>
          </a:p>
        </p:txBody>
      </p:sp>
      <p:sp>
        <p:nvSpPr>
          <p:cNvPr id="19" name="Text 17"/>
          <p:cNvSpPr/>
          <p:nvPr/>
        </p:nvSpPr>
        <p:spPr>
          <a:xfrm>
            <a:off x="7680960" y="5029200"/>
            <a:ext cx="329184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DATE</a:t>
            </a:r>
            <a:endParaRPr lang="en-US" sz="1000" dirty="0"/>
          </a:p>
        </p:txBody>
      </p:sp>
      <p:sp>
        <p:nvSpPr>
          <p:cNvPr id="20" name="Text 18"/>
          <p:cNvSpPr/>
          <p:nvPr/>
        </p:nvSpPr>
        <p:spPr>
          <a:xfrm>
            <a:off x="7680960" y="5349240"/>
            <a:ext cx="3291840" cy="548640"/>
          </a:xfrm>
          <a:prstGeom prst="rect">
            <a:avLst/>
          </a:prstGeom>
          <a:noFill/>
          <a:ln/>
        </p:spPr>
        <p:txBody>
          <a:bodyPr wrap="square" lIns="0" tIns="0" rIns="0" bIns="0" rtlCol="0" anchor="ctr"/>
          <a:lstStyle/>
          <a:p>
            <a:pPr marL="0" indent="0">
              <a:buNone/>
            </a:pPr>
            <a:r>
              <a:rPr lang="en-US" sz="2000" i="1" dirty="0">
                <a:solidFill>
                  <a:srgbClr val="FFFFFF"/>
                </a:solidFill>
                <a:latin typeface="Georgia" pitchFamily="34" charset="0"/>
                <a:ea typeface="Georgia" pitchFamily="34" charset="-122"/>
                <a:cs typeface="Georgia" pitchFamily="34" charset="-120"/>
              </a:rPr>
              <a:t>4/29/2026</a:t>
            </a:r>
            <a:endParaRPr lang="en-US" sz="2000" dirty="0"/>
          </a:p>
        </p:txBody>
      </p:sp>
      <p:sp>
        <p:nvSpPr>
          <p:cNvPr id="21" name="Shape 19"/>
          <p:cNvSpPr/>
          <p:nvPr/>
        </p:nvSpPr>
        <p:spPr>
          <a:xfrm>
            <a:off x="10088575" y="5989320"/>
            <a:ext cx="1645920" cy="457200"/>
          </a:xfrm>
          <a:prstGeom prst="roundRect">
            <a:avLst>
              <a:gd name="adj" fmla="val 16000"/>
            </a:avLst>
          </a:prstGeom>
          <a:solidFill>
            <a:srgbClr val="001F5B">
              <a:alpha val="0"/>
            </a:srgbClr>
          </a:solidFill>
          <a:ln w="15875">
            <a:solidFill>
              <a:srgbClr val="C8102E"/>
            </a:solidFill>
            <a:prstDash val="solid"/>
          </a:ln>
        </p:spPr>
        <p:txBody>
          <a:bodyPr/>
          <a:lstStyle/>
          <a:p>
            <a:endParaRPr lang="en-US"/>
          </a:p>
        </p:txBody>
      </p:sp>
      <p:sp>
        <p:nvSpPr>
          <p:cNvPr id="22" name="Text 20"/>
          <p:cNvSpPr/>
          <p:nvPr/>
        </p:nvSpPr>
        <p:spPr>
          <a:xfrm>
            <a:off x="10088575" y="5989320"/>
            <a:ext cx="1645920" cy="45720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CIS 3902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01 · PROBLEM</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Problem Statement &amp; Objective</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Frame the problem, clarify the target, justify the work</a:t>
            </a:r>
            <a:endParaRPr lang="en-US" sz="1200" dirty="0"/>
          </a:p>
        </p:txBody>
      </p:sp>
      <p:sp>
        <p:nvSpPr>
          <p:cNvPr id="15" name="Shape 12"/>
          <p:cNvSpPr/>
          <p:nvPr/>
        </p:nvSpPr>
        <p:spPr>
          <a:xfrm>
            <a:off x="457200" y="1828800"/>
            <a:ext cx="4754880" cy="4389120"/>
          </a:xfrm>
          <a:prstGeom prst="rect">
            <a:avLst/>
          </a:prstGeom>
          <a:solidFill>
            <a:srgbClr val="001F5B"/>
          </a:solidFill>
          <a:ln w="12700">
            <a:solidFill>
              <a:srgbClr val="001F5B"/>
            </a:solidFill>
            <a:prstDash val="solid"/>
          </a:ln>
          <a:effectLst>
            <a:outerShdw blurRad="177800" dist="50800" dir="5400000" algn="bl" rotWithShape="0">
              <a:srgbClr val="000000">
                <a:alpha val="15000"/>
              </a:srgbClr>
            </a:outerShdw>
          </a:effectLst>
        </p:spPr>
        <p:txBody>
          <a:bodyPr/>
          <a:lstStyle/>
          <a:p>
            <a:endParaRPr lang="en-US"/>
          </a:p>
        </p:txBody>
      </p:sp>
      <p:sp>
        <p:nvSpPr>
          <p:cNvPr id="16" name="Shape 13"/>
          <p:cNvSpPr/>
          <p:nvPr/>
        </p:nvSpPr>
        <p:spPr>
          <a:xfrm>
            <a:off x="457200" y="1828800"/>
            <a:ext cx="731520" cy="73152"/>
          </a:xfrm>
          <a:prstGeom prst="rect">
            <a:avLst/>
          </a:prstGeom>
          <a:solidFill>
            <a:srgbClr val="C8102E"/>
          </a:solidFill>
          <a:ln w="12700">
            <a:solidFill>
              <a:srgbClr val="C8102E"/>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777240" y="2057400"/>
            <a:ext cx="548640" cy="548640"/>
          </a:xfrm>
          <a:prstGeom prst="rect">
            <a:avLst/>
          </a:prstGeom>
        </p:spPr>
      </p:pic>
      <p:sp>
        <p:nvSpPr>
          <p:cNvPr id="18" name="Text 14"/>
          <p:cNvSpPr/>
          <p:nvPr/>
        </p:nvSpPr>
        <p:spPr>
          <a:xfrm>
            <a:off x="777240" y="2743200"/>
            <a:ext cx="4114800" cy="365760"/>
          </a:xfrm>
          <a:prstGeom prst="rect">
            <a:avLst/>
          </a:prstGeom>
          <a:noFill/>
          <a:ln/>
        </p:spPr>
        <p:txBody>
          <a:bodyPr wrap="square" lIns="0" tIns="0" rIns="0" bIns="0" rtlCol="0" anchor="ctr"/>
          <a:lstStyle/>
          <a:p>
            <a:pPr marL="0" indent="0">
              <a:buNone/>
            </a:pPr>
            <a:r>
              <a:rPr lang="en-US" sz="1200" b="1" kern="0" spc="400" dirty="0">
                <a:solidFill>
                  <a:srgbClr val="A9B8D4"/>
                </a:solidFill>
                <a:latin typeface="Calibri" pitchFamily="34" charset="0"/>
                <a:ea typeface="Calibri" pitchFamily="34" charset="-122"/>
                <a:cs typeface="Calibri" pitchFamily="34" charset="-120"/>
              </a:rPr>
              <a:t>Introduction</a:t>
            </a:r>
            <a:endParaRPr lang="en-US" sz="1200" dirty="0"/>
          </a:p>
        </p:txBody>
      </p:sp>
      <p:sp>
        <p:nvSpPr>
          <p:cNvPr id="19" name="Text 15"/>
          <p:cNvSpPr/>
          <p:nvPr/>
        </p:nvSpPr>
        <p:spPr>
          <a:xfrm>
            <a:off x="777240" y="3200400"/>
            <a:ext cx="4114800" cy="2743200"/>
          </a:xfrm>
          <a:prstGeom prst="rect">
            <a:avLst/>
          </a:prstGeom>
          <a:noFill/>
          <a:ln/>
        </p:spPr>
        <p:txBody>
          <a:bodyPr wrap="square" lIns="0" tIns="0" rIns="0" bIns="0" rtlCol="0" anchor="t"/>
          <a:lstStyle/>
          <a:p>
            <a:pPr>
              <a:spcAft>
                <a:spcPts val="600"/>
              </a:spcAft>
            </a:pPr>
            <a:r>
              <a:rPr lang="en-US" sz="2000" dirty="0">
                <a:solidFill>
                  <a:schemeClr val="bg1"/>
                </a:solidFill>
                <a:latin typeface="Georgia" panose="02040502050405020303" pitchFamily="18" charset="0"/>
              </a:rPr>
              <a:t>While heart disease is a global health crisis, this project is personal for me. Heart disease runs in my family, and I wanted to use data science to understand which clinical indicators are the most reliable predictors for early intervention.</a:t>
            </a:r>
            <a:endParaRPr lang="en-US" sz="2000" b="1" dirty="0">
              <a:solidFill>
                <a:schemeClr val="bg1"/>
              </a:solidFill>
            </a:endParaRPr>
          </a:p>
        </p:txBody>
      </p:sp>
      <p:sp>
        <p:nvSpPr>
          <p:cNvPr id="20" name="Shape 16"/>
          <p:cNvSpPr/>
          <p:nvPr/>
        </p:nvSpPr>
        <p:spPr>
          <a:xfrm>
            <a:off x="5577840" y="1805940"/>
            <a:ext cx="6126480" cy="1325880"/>
          </a:xfrm>
          <a:prstGeom prst="rect">
            <a:avLst/>
          </a:prstGeom>
          <a:solidFill>
            <a:srgbClr val="F7F8FB"/>
          </a:solidFill>
          <a:ln w="9525">
            <a:solidFill>
              <a:srgbClr val="E5E7EB"/>
            </a:solidFill>
            <a:prstDash val="solid"/>
          </a:ln>
        </p:spPr>
        <p:txBody>
          <a:bodyPr/>
          <a:lstStyle/>
          <a:p>
            <a:endParaRPr lang="en-US"/>
          </a:p>
        </p:txBody>
      </p:sp>
      <p:sp>
        <p:nvSpPr>
          <p:cNvPr id="21" name="Shape 17"/>
          <p:cNvSpPr/>
          <p:nvPr/>
        </p:nvSpPr>
        <p:spPr>
          <a:xfrm>
            <a:off x="5577840" y="1828800"/>
            <a:ext cx="91440" cy="1325880"/>
          </a:xfrm>
          <a:prstGeom prst="rect">
            <a:avLst/>
          </a:prstGeom>
          <a:solidFill>
            <a:srgbClr val="C8102E"/>
          </a:solidFill>
          <a:ln w="12700">
            <a:solidFill>
              <a:srgbClr val="C8102E"/>
            </a:solidFill>
            <a:prstDash val="solid"/>
          </a:ln>
        </p:spPr>
        <p:txBody>
          <a:bodyPr/>
          <a:lstStyle/>
          <a:p>
            <a:endParaRPr lang="en-US"/>
          </a:p>
        </p:txBody>
      </p:sp>
      <p:sp>
        <p:nvSpPr>
          <p:cNvPr id="22" name="Text 18"/>
          <p:cNvSpPr/>
          <p:nvPr/>
        </p:nvSpPr>
        <p:spPr>
          <a:xfrm>
            <a:off x="5852160" y="1965960"/>
            <a:ext cx="914400" cy="1005840"/>
          </a:xfrm>
          <a:prstGeom prst="rect">
            <a:avLst/>
          </a:prstGeom>
          <a:noFill/>
          <a:ln/>
        </p:spPr>
        <p:txBody>
          <a:bodyPr wrap="square" lIns="0" tIns="0" rIns="0" bIns="0" rtlCol="0" anchor="ctr"/>
          <a:lstStyle/>
          <a:p>
            <a:pPr marL="0" indent="0">
              <a:buNone/>
            </a:pPr>
            <a:r>
              <a:rPr lang="en-US" sz="4400" b="1" dirty="0">
                <a:solidFill>
                  <a:srgbClr val="001F5B"/>
                </a:solidFill>
                <a:latin typeface="Georgia" pitchFamily="34" charset="0"/>
                <a:ea typeface="Georgia" pitchFamily="34" charset="-122"/>
                <a:cs typeface="Georgia" pitchFamily="34" charset="-120"/>
              </a:rPr>
              <a:t>01</a:t>
            </a:r>
            <a:endParaRPr lang="en-US" sz="4400" dirty="0"/>
          </a:p>
        </p:txBody>
      </p:sp>
      <p:sp>
        <p:nvSpPr>
          <p:cNvPr id="23" name="Text 19"/>
          <p:cNvSpPr/>
          <p:nvPr/>
        </p:nvSpPr>
        <p:spPr>
          <a:xfrm>
            <a:off x="6812280" y="2011680"/>
            <a:ext cx="4754880" cy="45720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Motivation</a:t>
            </a:r>
            <a:endParaRPr lang="en-US" sz="1700" dirty="0"/>
          </a:p>
        </p:txBody>
      </p:sp>
      <p:sp>
        <p:nvSpPr>
          <p:cNvPr id="24" name="Text 20"/>
          <p:cNvSpPr/>
          <p:nvPr/>
        </p:nvSpPr>
        <p:spPr>
          <a:xfrm>
            <a:off x="6812280" y="2468880"/>
            <a:ext cx="4754880" cy="594360"/>
          </a:xfrm>
          <a:prstGeom prst="rect">
            <a:avLst/>
          </a:prstGeom>
          <a:noFill/>
          <a:ln/>
        </p:spPr>
        <p:txBody>
          <a:bodyPr wrap="square" lIns="0" tIns="0" rIns="0" bIns="0" rtlCol="0" anchor="t"/>
          <a:lstStyle/>
          <a:p>
            <a:r>
              <a:rPr lang="en-US" sz="1400" dirty="0"/>
              <a:t>Addressing heart disease is critical because it remains the leading cause of death globally.</a:t>
            </a:r>
            <a:endParaRPr lang="en-US" sz="1300" dirty="0"/>
          </a:p>
        </p:txBody>
      </p:sp>
      <p:sp>
        <p:nvSpPr>
          <p:cNvPr id="25" name="Shape 21"/>
          <p:cNvSpPr/>
          <p:nvPr/>
        </p:nvSpPr>
        <p:spPr>
          <a:xfrm>
            <a:off x="5577840" y="3326130"/>
            <a:ext cx="6126480" cy="1325880"/>
          </a:xfrm>
          <a:prstGeom prst="rect">
            <a:avLst/>
          </a:prstGeom>
          <a:solidFill>
            <a:srgbClr val="F7F8FB"/>
          </a:solidFill>
          <a:ln w="9525">
            <a:solidFill>
              <a:srgbClr val="E5E7EB"/>
            </a:solidFill>
            <a:prstDash val="solid"/>
          </a:ln>
        </p:spPr>
        <p:txBody>
          <a:bodyPr/>
          <a:lstStyle/>
          <a:p>
            <a:endParaRPr lang="en-US"/>
          </a:p>
        </p:txBody>
      </p:sp>
      <p:sp>
        <p:nvSpPr>
          <p:cNvPr id="26" name="Shape 22"/>
          <p:cNvSpPr/>
          <p:nvPr/>
        </p:nvSpPr>
        <p:spPr>
          <a:xfrm>
            <a:off x="5577840" y="3337560"/>
            <a:ext cx="91440" cy="1325880"/>
          </a:xfrm>
          <a:prstGeom prst="rect">
            <a:avLst/>
          </a:prstGeom>
          <a:solidFill>
            <a:srgbClr val="C8102E"/>
          </a:solidFill>
          <a:ln w="12700">
            <a:solidFill>
              <a:srgbClr val="C8102E"/>
            </a:solidFill>
            <a:prstDash val="solid"/>
          </a:ln>
        </p:spPr>
        <p:txBody>
          <a:bodyPr/>
          <a:lstStyle/>
          <a:p>
            <a:endParaRPr lang="en-US"/>
          </a:p>
        </p:txBody>
      </p:sp>
      <p:sp>
        <p:nvSpPr>
          <p:cNvPr id="27" name="Text 23"/>
          <p:cNvSpPr/>
          <p:nvPr/>
        </p:nvSpPr>
        <p:spPr>
          <a:xfrm>
            <a:off x="5852160" y="3474720"/>
            <a:ext cx="914400" cy="1005840"/>
          </a:xfrm>
          <a:prstGeom prst="rect">
            <a:avLst/>
          </a:prstGeom>
          <a:noFill/>
          <a:ln/>
        </p:spPr>
        <p:txBody>
          <a:bodyPr wrap="square" lIns="0" tIns="0" rIns="0" bIns="0" rtlCol="0" anchor="ctr"/>
          <a:lstStyle/>
          <a:p>
            <a:pPr marL="0" indent="0">
              <a:buNone/>
            </a:pPr>
            <a:r>
              <a:rPr lang="en-US" sz="4400" b="1" dirty="0">
                <a:solidFill>
                  <a:srgbClr val="001F5B"/>
                </a:solidFill>
                <a:latin typeface="Georgia" pitchFamily="34" charset="0"/>
                <a:ea typeface="Georgia" pitchFamily="34" charset="-122"/>
                <a:cs typeface="Georgia" pitchFamily="34" charset="-120"/>
              </a:rPr>
              <a:t>02</a:t>
            </a:r>
            <a:endParaRPr lang="en-US" sz="4400" dirty="0"/>
          </a:p>
        </p:txBody>
      </p:sp>
      <p:sp>
        <p:nvSpPr>
          <p:cNvPr id="28" name="Text 24"/>
          <p:cNvSpPr/>
          <p:nvPr/>
        </p:nvSpPr>
        <p:spPr>
          <a:xfrm>
            <a:off x="6812280" y="3520440"/>
            <a:ext cx="4754880" cy="45720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Prediction Target</a:t>
            </a:r>
            <a:endParaRPr lang="en-US" sz="1700" dirty="0"/>
          </a:p>
        </p:txBody>
      </p:sp>
      <p:sp>
        <p:nvSpPr>
          <p:cNvPr id="29" name="Text 25"/>
          <p:cNvSpPr/>
          <p:nvPr/>
        </p:nvSpPr>
        <p:spPr>
          <a:xfrm>
            <a:off x="6812280" y="3977640"/>
            <a:ext cx="4754880" cy="594360"/>
          </a:xfrm>
          <a:prstGeom prst="rect">
            <a:avLst/>
          </a:prstGeom>
          <a:noFill/>
          <a:ln/>
        </p:spPr>
        <p:txBody>
          <a:bodyPr wrap="square" lIns="0" tIns="0" rIns="0" bIns="0" rtlCol="0" anchor="t"/>
          <a:lstStyle/>
          <a:p>
            <a:r>
              <a:rPr lang="en-US" sz="1400" dirty="0"/>
              <a:t>I am predicting the presence or absence of heart disease in a patient.</a:t>
            </a:r>
            <a:endParaRPr lang="en-US" sz="1300" dirty="0"/>
          </a:p>
        </p:txBody>
      </p:sp>
      <p:sp>
        <p:nvSpPr>
          <p:cNvPr id="30" name="Shape 26"/>
          <p:cNvSpPr/>
          <p:nvPr/>
        </p:nvSpPr>
        <p:spPr>
          <a:xfrm>
            <a:off x="5577840" y="4846320"/>
            <a:ext cx="6126480" cy="1325880"/>
          </a:xfrm>
          <a:prstGeom prst="rect">
            <a:avLst/>
          </a:prstGeom>
          <a:solidFill>
            <a:srgbClr val="F7F8FB"/>
          </a:solidFill>
          <a:ln w="9525">
            <a:solidFill>
              <a:srgbClr val="E5E7EB"/>
            </a:solidFill>
            <a:prstDash val="solid"/>
          </a:ln>
        </p:spPr>
        <p:txBody>
          <a:bodyPr/>
          <a:lstStyle/>
          <a:p>
            <a:endParaRPr lang="en-US"/>
          </a:p>
        </p:txBody>
      </p:sp>
      <p:sp>
        <p:nvSpPr>
          <p:cNvPr id="31" name="Shape 27"/>
          <p:cNvSpPr/>
          <p:nvPr/>
        </p:nvSpPr>
        <p:spPr>
          <a:xfrm>
            <a:off x="5577840" y="4846320"/>
            <a:ext cx="91440" cy="1325880"/>
          </a:xfrm>
          <a:prstGeom prst="rect">
            <a:avLst/>
          </a:prstGeom>
          <a:solidFill>
            <a:srgbClr val="C8102E"/>
          </a:solidFill>
          <a:ln w="12700">
            <a:solidFill>
              <a:srgbClr val="C8102E"/>
            </a:solidFill>
            <a:prstDash val="solid"/>
          </a:ln>
        </p:spPr>
        <p:txBody>
          <a:bodyPr/>
          <a:lstStyle/>
          <a:p>
            <a:endParaRPr lang="en-US"/>
          </a:p>
        </p:txBody>
      </p:sp>
      <p:sp>
        <p:nvSpPr>
          <p:cNvPr id="32" name="Text 28"/>
          <p:cNvSpPr/>
          <p:nvPr/>
        </p:nvSpPr>
        <p:spPr>
          <a:xfrm>
            <a:off x="5852160" y="4983480"/>
            <a:ext cx="914400" cy="1005840"/>
          </a:xfrm>
          <a:prstGeom prst="rect">
            <a:avLst/>
          </a:prstGeom>
          <a:noFill/>
          <a:ln/>
        </p:spPr>
        <p:txBody>
          <a:bodyPr wrap="square" lIns="0" tIns="0" rIns="0" bIns="0" rtlCol="0" anchor="ctr"/>
          <a:lstStyle/>
          <a:p>
            <a:pPr marL="0" indent="0">
              <a:buNone/>
            </a:pPr>
            <a:r>
              <a:rPr lang="en-US" sz="4400" b="1" dirty="0">
                <a:solidFill>
                  <a:srgbClr val="001F5B"/>
                </a:solidFill>
                <a:latin typeface="Georgia" pitchFamily="34" charset="0"/>
                <a:ea typeface="Georgia" pitchFamily="34" charset="-122"/>
                <a:cs typeface="Georgia" pitchFamily="34" charset="-120"/>
              </a:rPr>
              <a:t>03</a:t>
            </a:r>
            <a:endParaRPr lang="en-US" sz="4400" dirty="0"/>
          </a:p>
        </p:txBody>
      </p:sp>
      <p:sp>
        <p:nvSpPr>
          <p:cNvPr id="33" name="Text 29"/>
          <p:cNvSpPr/>
          <p:nvPr/>
        </p:nvSpPr>
        <p:spPr>
          <a:xfrm>
            <a:off x="6812280" y="5029200"/>
            <a:ext cx="4754880" cy="45720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Impact</a:t>
            </a:r>
            <a:endParaRPr lang="en-US" sz="1700" dirty="0"/>
          </a:p>
        </p:txBody>
      </p:sp>
      <p:sp>
        <p:nvSpPr>
          <p:cNvPr id="34" name="Text 30"/>
          <p:cNvSpPr/>
          <p:nvPr/>
        </p:nvSpPr>
        <p:spPr>
          <a:xfrm>
            <a:off x="6812280" y="5486400"/>
            <a:ext cx="4754880" cy="594360"/>
          </a:xfrm>
          <a:prstGeom prst="rect">
            <a:avLst/>
          </a:prstGeom>
          <a:noFill/>
          <a:ln/>
        </p:spPr>
        <p:txBody>
          <a:bodyPr wrap="square" lIns="0" tIns="0" rIns="0" bIns="0" rtlCol="0" anchor="t"/>
          <a:lstStyle/>
          <a:p>
            <a:pPr marL="0" indent="0">
              <a:buNone/>
            </a:pPr>
            <a:r>
              <a:rPr lang="en-US" sz="1300" dirty="0"/>
              <a:t>Medical organizations and clinicians would be able to save countless lives every year.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02 · DATASET</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Dataset &amp; Domain Context</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Where the data comes from and why it fits the problem</a:t>
            </a:r>
            <a:endParaRPr lang="en-US" sz="1200" dirty="0"/>
          </a:p>
        </p:txBody>
      </p:sp>
      <p:sp>
        <p:nvSpPr>
          <p:cNvPr id="15" name="Shape 12"/>
          <p:cNvSpPr/>
          <p:nvPr/>
        </p:nvSpPr>
        <p:spPr>
          <a:xfrm>
            <a:off x="471268" y="1828800"/>
            <a:ext cx="3931920" cy="4389120"/>
          </a:xfrm>
          <a:prstGeom prst="rect">
            <a:avLst/>
          </a:prstGeom>
          <a:solidFill>
            <a:srgbClr val="001F5B"/>
          </a:solidFill>
          <a:ln w="12700">
            <a:solidFill>
              <a:srgbClr val="001F5B"/>
            </a:solidFill>
            <a:prstDash val="solid"/>
          </a:ln>
          <a:effectLst>
            <a:outerShdw blurRad="177800" dist="50800" dir="5400000" algn="bl" rotWithShape="0">
              <a:srgbClr val="000000">
                <a:alpha val="15000"/>
              </a:srgbClr>
            </a:outerShdw>
          </a:effectLst>
        </p:spPr>
        <p:txBody>
          <a:bodyPr/>
          <a:lstStyle/>
          <a:p>
            <a:endParaRPr lang="en-US" dirty="0"/>
          </a:p>
        </p:txBody>
      </p:sp>
      <p:sp>
        <p:nvSpPr>
          <p:cNvPr id="16" name="Shape 13"/>
          <p:cNvSpPr/>
          <p:nvPr/>
        </p:nvSpPr>
        <p:spPr>
          <a:xfrm>
            <a:off x="457200" y="1828800"/>
            <a:ext cx="731520" cy="73152"/>
          </a:xfrm>
          <a:prstGeom prst="rect">
            <a:avLst/>
          </a:prstGeom>
          <a:solidFill>
            <a:srgbClr val="C8102E"/>
          </a:solidFill>
          <a:ln w="12700">
            <a:solidFill>
              <a:srgbClr val="C8102E"/>
            </a:solidFill>
            <a:prstDash val="solid"/>
          </a:ln>
        </p:spPr>
        <p:txBody>
          <a:bodyPr/>
          <a:lstStyle/>
          <a:p>
            <a:endParaRPr lang="en-US"/>
          </a:p>
        </p:txBody>
      </p:sp>
      <p:sp>
        <p:nvSpPr>
          <p:cNvPr id="17" name="Text 14"/>
          <p:cNvSpPr/>
          <p:nvPr/>
        </p:nvSpPr>
        <p:spPr>
          <a:xfrm>
            <a:off x="731520" y="2011680"/>
            <a:ext cx="3474720" cy="32004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AT A GLANCE</a:t>
            </a:r>
            <a:endParaRPr lang="en-US" sz="1100" dirty="0"/>
          </a:p>
        </p:txBody>
      </p:sp>
      <p:sp>
        <p:nvSpPr>
          <p:cNvPr id="18" name="Text 15"/>
          <p:cNvSpPr/>
          <p:nvPr/>
        </p:nvSpPr>
        <p:spPr>
          <a:xfrm>
            <a:off x="777240" y="2606040"/>
            <a:ext cx="1188720" cy="914400"/>
          </a:xfrm>
          <a:prstGeom prst="rect">
            <a:avLst/>
          </a:prstGeom>
          <a:noFill/>
          <a:ln/>
        </p:spPr>
        <p:txBody>
          <a:bodyPr wrap="square" lIns="0" tIns="0" rIns="0" bIns="0" rtlCol="0" anchor="ctr"/>
          <a:lstStyle/>
          <a:p>
            <a:pPr marL="0" indent="0">
              <a:buNone/>
            </a:pPr>
            <a:r>
              <a:rPr lang="en-US" sz="4800" b="1" dirty="0">
                <a:solidFill>
                  <a:srgbClr val="C8102E"/>
                </a:solidFill>
                <a:latin typeface="Georgia" pitchFamily="34" charset="0"/>
                <a:ea typeface="Georgia" pitchFamily="34" charset="-122"/>
                <a:cs typeface="Georgia" pitchFamily="34" charset="-120"/>
              </a:rPr>
              <a:t>#</a:t>
            </a:r>
            <a:endParaRPr lang="en-US" sz="4800" dirty="0"/>
          </a:p>
        </p:txBody>
      </p:sp>
      <p:sp>
        <p:nvSpPr>
          <p:cNvPr id="19" name="Text 16"/>
          <p:cNvSpPr/>
          <p:nvPr/>
        </p:nvSpPr>
        <p:spPr>
          <a:xfrm>
            <a:off x="1965960" y="2697480"/>
            <a:ext cx="219456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rows</a:t>
            </a:r>
            <a:endParaRPr lang="en-US" sz="1500" dirty="0"/>
          </a:p>
        </p:txBody>
      </p:sp>
      <p:sp>
        <p:nvSpPr>
          <p:cNvPr id="20" name="Text 17"/>
          <p:cNvSpPr/>
          <p:nvPr/>
        </p:nvSpPr>
        <p:spPr>
          <a:xfrm>
            <a:off x="1965960" y="3108960"/>
            <a:ext cx="2194560" cy="411480"/>
          </a:xfrm>
          <a:prstGeom prst="rect">
            <a:avLst/>
          </a:prstGeom>
          <a:noFill/>
          <a:ln/>
        </p:spPr>
        <p:txBody>
          <a:bodyPr wrap="square" lIns="0" tIns="0" rIns="0" bIns="0" rtlCol="0" anchor="ctr"/>
          <a:lstStyle/>
          <a:p>
            <a:pPr marL="0" indent="0">
              <a:buNone/>
            </a:pPr>
            <a:r>
              <a:rPr lang="en-US" sz="2800" dirty="0">
                <a:solidFill>
                  <a:schemeClr val="bg1"/>
                </a:solidFill>
                <a:latin typeface="Georgia" panose="02040502050405020303" pitchFamily="18" charset="0"/>
              </a:rPr>
              <a:t>303</a:t>
            </a:r>
          </a:p>
        </p:txBody>
      </p:sp>
      <p:sp>
        <p:nvSpPr>
          <p:cNvPr id="21" name="Shape 18"/>
          <p:cNvSpPr/>
          <p:nvPr/>
        </p:nvSpPr>
        <p:spPr>
          <a:xfrm>
            <a:off x="822960" y="3703320"/>
            <a:ext cx="3200400" cy="0"/>
          </a:xfrm>
          <a:prstGeom prst="line">
            <a:avLst/>
          </a:prstGeom>
          <a:noFill/>
          <a:ln w="9525">
            <a:solidFill>
              <a:srgbClr val="1A3A7A"/>
            </a:solidFill>
            <a:prstDash val="solid"/>
          </a:ln>
        </p:spPr>
        <p:txBody>
          <a:bodyPr/>
          <a:lstStyle/>
          <a:p>
            <a:endParaRPr lang="en-US"/>
          </a:p>
        </p:txBody>
      </p:sp>
      <p:sp>
        <p:nvSpPr>
          <p:cNvPr id="22" name="Text 19"/>
          <p:cNvSpPr/>
          <p:nvPr/>
        </p:nvSpPr>
        <p:spPr>
          <a:xfrm>
            <a:off x="777240" y="3794760"/>
            <a:ext cx="1188720" cy="914400"/>
          </a:xfrm>
          <a:prstGeom prst="rect">
            <a:avLst/>
          </a:prstGeom>
          <a:noFill/>
          <a:ln/>
        </p:spPr>
        <p:txBody>
          <a:bodyPr wrap="square" lIns="0" tIns="0" rIns="0" bIns="0" rtlCol="0" anchor="ctr"/>
          <a:lstStyle/>
          <a:p>
            <a:pPr marL="0" indent="0">
              <a:buNone/>
            </a:pPr>
            <a:r>
              <a:rPr lang="en-US" sz="4800" b="1" dirty="0">
                <a:solidFill>
                  <a:srgbClr val="C8102E"/>
                </a:solidFill>
                <a:latin typeface="Georgia" pitchFamily="34" charset="0"/>
                <a:ea typeface="Georgia" pitchFamily="34" charset="-122"/>
                <a:cs typeface="Georgia" pitchFamily="34" charset="-120"/>
              </a:rPr>
              <a:t>#</a:t>
            </a:r>
            <a:endParaRPr lang="en-US" sz="4800" dirty="0"/>
          </a:p>
        </p:txBody>
      </p:sp>
      <p:sp>
        <p:nvSpPr>
          <p:cNvPr id="23" name="Text 20"/>
          <p:cNvSpPr/>
          <p:nvPr/>
        </p:nvSpPr>
        <p:spPr>
          <a:xfrm>
            <a:off x="1965960" y="3886200"/>
            <a:ext cx="219456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features</a:t>
            </a:r>
            <a:endParaRPr lang="en-US" sz="1500" dirty="0"/>
          </a:p>
        </p:txBody>
      </p:sp>
      <p:sp>
        <p:nvSpPr>
          <p:cNvPr id="24" name="Text 21"/>
          <p:cNvSpPr/>
          <p:nvPr/>
        </p:nvSpPr>
        <p:spPr>
          <a:xfrm>
            <a:off x="1965960" y="4297680"/>
            <a:ext cx="2194560" cy="411480"/>
          </a:xfrm>
          <a:prstGeom prst="rect">
            <a:avLst/>
          </a:prstGeom>
          <a:noFill/>
          <a:ln/>
        </p:spPr>
        <p:txBody>
          <a:bodyPr wrap="square" lIns="0" tIns="0" rIns="0" bIns="0" rtlCol="0" anchor="ctr"/>
          <a:lstStyle/>
          <a:p>
            <a:r>
              <a:rPr lang="en-US" sz="2800" dirty="0">
                <a:solidFill>
                  <a:schemeClr val="bg1"/>
                </a:solidFill>
                <a:latin typeface="Georgia" panose="02040502050405020303" pitchFamily="18" charset="0"/>
              </a:rPr>
              <a:t>14</a:t>
            </a:r>
          </a:p>
        </p:txBody>
      </p:sp>
      <p:sp>
        <p:nvSpPr>
          <p:cNvPr id="25" name="Shape 22"/>
          <p:cNvSpPr/>
          <p:nvPr/>
        </p:nvSpPr>
        <p:spPr>
          <a:xfrm>
            <a:off x="822960" y="4892040"/>
            <a:ext cx="3200400" cy="0"/>
          </a:xfrm>
          <a:prstGeom prst="line">
            <a:avLst/>
          </a:prstGeom>
          <a:noFill/>
          <a:ln w="9525">
            <a:solidFill>
              <a:srgbClr val="1A3A7A"/>
            </a:solidFill>
            <a:prstDash val="solid"/>
          </a:ln>
        </p:spPr>
        <p:txBody>
          <a:bodyPr/>
          <a:lstStyle/>
          <a:p>
            <a:endParaRPr lang="en-US"/>
          </a:p>
        </p:txBody>
      </p:sp>
      <p:sp>
        <p:nvSpPr>
          <p:cNvPr id="26" name="Text 23"/>
          <p:cNvSpPr/>
          <p:nvPr/>
        </p:nvSpPr>
        <p:spPr>
          <a:xfrm>
            <a:off x="777240" y="4983480"/>
            <a:ext cx="1188720" cy="914400"/>
          </a:xfrm>
          <a:prstGeom prst="rect">
            <a:avLst/>
          </a:prstGeom>
          <a:noFill/>
          <a:ln/>
        </p:spPr>
        <p:txBody>
          <a:bodyPr wrap="square" lIns="0" tIns="0" rIns="0" bIns="0" rtlCol="0" anchor="ctr"/>
          <a:lstStyle/>
          <a:p>
            <a:pPr marL="0" indent="0">
              <a:buNone/>
            </a:pPr>
            <a:r>
              <a:rPr lang="en-US" sz="4800" b="1" dirty="0">
                <a:solidFill>
                  <a:srgbClr val="C8102E"/>
                </a:solidFill>
                <a:latin typeface="Georgia" pitchFamily="34" charset="0"/>
                <a:ea typeface="Georgia" pitchFamily="34" charset="-122"/>
                <a:cs typeface="Georgia" pitchFamily="34" charset="-120"/>
              </a:rPr>
              <a:t>—</a:t>
            </a:r>
            <a:endParaRPr lang="en-US" sz="4800" dirty="0"/>
          </a:p>
        </p:txBody>
      </p:sp>
      <p:sp>
        <p:nvSpPr>
          <p:cNvPr id="27" name="Text 24"/>
          <p:cNvSpPr/>
          <p:nvPr/>
        </p:nvSpPr>
        <p:spPr>
          <a:xfrm>
            <a:off x="1965960" y="5074920"/>
            <a:ext cx="219456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target type</a:t>
            </a:r>
            <a:endParaRPr lang="en-US" sz="1500" dirty="0"/>
          </a:p>
        </p:txBody>
      </p:sp>
      <p:sp>
        <p:nvSpPr>
          <p:cNvPr id="28" name="Text 25"/>
          <p:cNvSpPr/>
          <p:nvPr/>
        </p:nvSpPr>
        <p:spPr>
          <a:xfrm>
            <a:off x="1965960" y="5486400"/>
            <a:ext cx="2194560" cy="411480"/>
          </a:xfrm>
          <a:prstGeom prst="rect">
            <a:avLst/>
          </a:prstGeom>
          <a:noFill/>
          <a:ln/>
        </p:spPr>
        <p:txBody>
          <a:bodyPr wrap="square" lIns="0" tIns="0" rIns="0" bIns="0" rtlCol="0" anchor="ctr"/>
          <a:lstStyle/>
          <a:p>
            <a:pPr marL="0" indent="0">
              <a:buNone/>
            </a:pPr>
            <a:r>
              <a:rPr lang="en-US" sz="2400" i="1" dirty="0">
                <a:solidFill>
                  <a:schemeClr val="bg1"/>
                </a:solidFill>
                <a:latin typeface="Georgia" panose="02040502050405020303" pitchFamily="18" charset="0"/>
                <a:ea typeface="Calibri" pitchFamily="34" charset="-122"/>
                <a:cs typeface="Calibri" pitchFamily="34" charset="-120"/>
              </a:rPr>
              <a:t>Classification</a:t>
            </a:r>
            <a:endParaRPr lang="en-US" sz="2400" dirty="0">
              <a:solidFill>
                <a:schemeClr val="bg1"/>
              </a:solidFill>
              <a:latin typeface="Georgia" panose="02040502050405020303" pitchFamily="18" charset="0"/>
            </a:endParaRPr>
          </a:p>
        </p:txBody>
      </p:sp>
      <p:sp>
        <p:nvSpPr>
          <p:cNvPr id="29" name="Shape 26"/>
          <p:cNvSpPr/>
          <p:nvPr/>
        </p:nvSpPr>
        <p:spPr>
          <a:xfrm>
            <a:off x="4663440" y="1828800"/>
            <a:ext cx="7040880" cy="1325880"/>
          </a:xfrm>
          <a:prstGeom prst="rect">
            <a:avLst/>
          </a:prstGeom>
          <a:solidFill>
            <a:srgbClr val="F7F8FB"/>
          </a:solidFill>
          <a:ln w="9525">
            <a:solidFill>
              <a:srgbClr val="E5E7EB"/>
            </a:solidFill>
            <a:prstDash val="solid"/>
          </a:ln>
        </p:spPr>
        <p:txBody>
          <a:bodyPr/>
          <a:lstStyle/>
          <a:p>
            <a:endParaRPr lang="en-US"/>
          </a:p>
        </p:txBody>
      </p:sp>
      <p:sp>
        <p:nvSpPr>
          <p:cNvPr id="30" name="Shape 27"/>
          <p:cNvSpPr/>
          <p:nvPr/>
        </p:nvSpPr>
        <p:spPr>
          <a:xfrm>
            <a:off x="4663440" y="1828800"/>
            <a:ext cx="91440" cy="1325880"/>
          </a:xfrm>
          <a:prstGeom prst="rect">
            <a:avLst/>
          </a:prstGeom>
          <a:solidFill>
            <a:srgbClr val="001F5B"/>
          </a:solidFill>
          <a:ln w="12700">
            <a:solidFill>
              <a:srgbClr val="001F5B"/>
            </a:solidFill>
            <a:prstDash val="solid"/>
          </a:ln>
        </p:spPr>
        <p:txBody>
          <a:bodyPr/>
          <a:lstStyle/>
          <a:p>
            <a:endParaRPr lang="en-US"/>
          </a:p>
        </p:txBody>
      </p:sp>
      <p:sp>
        <p:nvSpPr>
          <p:cNvPr id="31" name="Shape 28"/>
          <p:cNvSpPr/>
          <p:nvPr/>
        </p:nvSpPr>
        <p:spPr>
          <a:xfrm>
            <a:off x="4983480" y="2148840"/>
            <a:ext cx="685800" cy="685800"/>
          </a:xfrm>
          <a:prstGeom prst="ellipse">
            <a:avLst/>
          </a:prstGeom>
          <a:solidFill>
            <a:srgbClr val="FFFFFF"/>
          </a:solidFill>
          <a:ln w="19050">
            <a:solidFill>
              <a:srgbClr val="001F5B"/>
            </a:solidFill>
            <a:prstDash val="solid"/>
          </a:ln>
        </p:spPr>
        <p:txBody>
          <a:bodyPr/>
          <a:lstStyle/>
          <a:p>
            <a:endParaRPr lang="en-US"/>
          </a:p>
        </p:txBody>
      </p:sp>
      <p:pic>
        <p:nvPicPr>
          <p:cNvPr id="32" name="Image 1" descr="preencoded.png"/>
          <p:cNvPicPr>
            <a:picLocks noChangeAspect="1"/>
          </p:cNvPicPr>
          <p:nvPr/>
        </p:nvPicPr>
        <p:blipFill>
          <a:blip r:embed="rId4"/>
          <a:stretch>
            <a:fillRect/>
          </a:stretch>
        </p:blipFill>
        <p:spPr>
          <a:xfrm>
            <a:off x="5148072" y="2313432"/>
            <a:ext cx="356616" cy="356616"/>
          </a:xfrm>
          <a:prstGeom prst="rect">
            <a:avLst/>
          </a:prstGeom>
        </p:spPr>
      </p:pic>
      <p:sp>
        <p:nvSpPr>
          <p:cNvPr id="33" name="Text 29"/>
          <p:cNvSpPr/>
          <p:nvPr/>
        </p:nvSpPr>
        <p:spPr>
          <a:xfrm>
            <a:off x="5852160" y="2011680"/>
            <a:ext cx="5669280" cy="41148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Source &amp; Citation</a:t>
            </a:r>
            <a:endParaRPr lang="en-US" sz="1700" dirty="0"/>
          </a:p>
        </p:txBody>
      </p:sp>
      <p:sp>
        <p:nvSpPr>
          <p:cNvPr id="34" name="Text 30"/>
          <p:cNvSpPr/>
          <p:nvPr/>
        </p:nvSpPr>
        <p:spPr>
          <a:xfrm>
            <a:off x="5852160" y="2423160"/>
            <a:ext cx="5669280" cy="640080"/>
          </a:xfrm>
          <a:prstGeom prst="rect">
            <a:avLst/>
          </a:prstGeom>
          <a:noFill/>
          <a:ln/>
        </p:spPr>
        <p:txBody>
          <a:bodyPr wrap="square" lIns="0" tIns="0" rIns="0" bIns="0" rtlCol="0" anchor="t"/>
          <a:lstStyle/>
          <a:p>
            <a:r>
              <a:rPr lang="en-US" sz="1200" dirty="0"/>
              <a:t>Janosi, A., </a:t>
            </a:r>
            <a:r>
              <a:rPr lang="en-US" sz="1200" dirty="0" err="1"/>
              <a:t>Steinbrunn</a:t>
            </a:r>
            <a:r>
              <a:rPr lang="en-US" sz="1200" dirty="0"/>
              <a:t>, W., Pfisterer, M., &amp; Detrano, R. (1988). Heart Disease [Dataset]. UCI Machine Learning Repository. | </a:t>
            </a:r>
            <a:r>
              <a:rPr lang="en-US" sz="1200" dirty="0">
                <a:hlinkClick r:id="rId5"/>
              </a:rPr>
              <a:t>https://archive.ics.uci.edu/dataset/45/heart+disease</a:t>
            </a:r>
            <a:r>
              <a:rPr lang="en-US" sz="1200" dirty="0"/>
              <a:t> | Cleveland Clinic Foundation, Hungarian Institute of Cardiology (Budapest), V.A. Medical Center (Long Beach, CA), and University Hospital (Zurich, Switzerland).</a:t>
            </a:r>
          </a:p>
        </p:txBody>
      </p:sp>
      <p:sp>
        <p:nvSpPr>
          <p:cNvPr id="35" name="Shape 31"/>
          <p:cNvSpPr/>
          <p:nvPr/>
        </p:nvSpPr>
        <p:spPr>
          <a:xfrm>
            <a:off x="4663440" y="3337560"/>
            <a:ext cx="7040880" cy="1325880"/>
          </a:xfrm>
          <a:prstGeom prst="rect">
            <a:avLst/>
          </a:prstGeom>
          <a:solidFill>
            <a:srgbClr val="F7F8FB"/>
          </a:solidFill>
          <a:ln w="9525">
            <a:solidFill>
              <a:srgbClr val="E5E7EB"/>
            </a:solidFill>
            <a:prstDash val="solid"/>
          </a:ln>
        </p:spPr>
        <p:txBody>
          <a:bodyPr/>
          <a:lstStyle/>
          <a:p>
            <a:endParaRPr lang="en-US"/>
          </a:p>
        </p:txBody>
      </p:sp>
      <p:sp>
        <p:nvSpPr>
          <p:cNvPr id="36" name="Shape 32"/>
          <p:cNvSpPr/>
          <p:nvPr/>
        </p:nvSpPr>
        <p:spPr>
          <a:xfrm>
            <a:off x="4663440" y="3337560"/>
            <a:ext cx="91440" cy="1325880"/>
          </a:xfrm>
          <a:prstGeom prst="rect">
            <a:avLst/>
          </a:prstGeom>
          <a:solidFill>
            <a:srgbClr val="001F5B"/>
          </a:solidFill>
          <a:ln w="12700">
            <a:solidFill>
              <a:srgbClr val="001F5B"/>
            </a:solidFill>
            <a:prstDash val="solid"/>
          </a:ln>
        </p:spPr>
        <p:txBody>
          <a:bodyPr/>
          <a:lstStyle/>
          <a:p>
            <a:endParaRPr lang="en-US"/>
          </a:p>
        </p:txBody>
      </p:sp>
      <p:sp>
        <p:nvSpPr>
          <p:cNvPr id="37" name="Shape 33"/>
          <p:cNvSpPr/>
          <p:nvPr/>
        </p:nvSpPr>
        <p:spPr>
          <a:xfrm>
            <a:off x="4983480" y="3657600"/>
            <a:ext cx="685800" cy="685800"/>
          </a:xfrm>
          <a:prstGeom prst="ellipse">
            <a:avLst/>
          </a:prstGeom>
          <a:solidFill>
            <a:srgbClr val="FFFFFF"/>
          </a:solidFill>
          <a:ln w="19050">
            <a:solidFill>
              <a:srgbClr val="001F5B"/>
            </a:solidFill>
            <a:prstDash val="solid"/>
          </a:ln>
        </p:spPr>
        <p:txBody>
          <a:bodyPr/>
          <a:lstStyle/>
          <a:p>
            <a:endParaRPr lang="en-US"/>
          </a:p>
        </p:txBody>
      </p:sp>
      <p:pic>
        <p:nvPicPr>
          <p:cNvPr id="38" name="Image 2" descr="preencoded.png"/>
          <p:cNvPicPr>
            <a:picLocks noChangeAspect="1"/>
          </p:cNvPicPr>
          <p:nvPr/>
        </p:nvPicPr>
        <p:blipFill>
          <a:blip r:embed="rId6"/>
          <a:stretch>
            <a:fillRect/>
          </a:stretch>
        </p:blipFill>
        <p:spPr>
          <a:xfrm>
            <a:off x="5148072" y="3822192"/>
            <a:ext cx="356616" cy="356616"/>
          </a:xfrm>
          <a:prstGeom prst="rect">
            <a:avLst/>
          </a:prstGeom>
        </p:spPr>
      </p:pic>
      <p:sp>
        <p:nvSpPr>
          <p:cNvPr id="39" name="Text 34"/>
          <p:cNvSpPr/>
          <p:nvPr/>
        </p:nvSpPr>
        <p:spPr>
          <a:xfrm>
            <a:off x="5852160" y="3520440"/>
            <a:ext cx="5669280" cy="41148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Size &amp; Structure</a:t>
            </a:r>
            <a:endParaRPr lang="en-US" sz="1700" dirty="0"/>
          </a:p>
        </p:txBody>
      </p:sp>
      <p:sp>
        <p:nvSpPr>
          <p:cNvPr id="40" name="Text 35"/>
          <p:cNvSpPr/>
          <p:nvPr/>
        </p:nvSpPr>
        <p:spPr>
          <a:xfrm>
            <a:off x="5852160" y="3931920"/>
            <a:ext cx="5669280" cy="640080"/>
          </a:xfrm>
          <a:prstGeom prst="rect">
            <a:avLst/>
          </a:prstGeom>
          <a:noFill/>
          <a:ln/>
        </p:spPr>
        <p:txBody>
          <a:bodyPr wrap="square" lIns="0" tIns="0" rIns="0" bIns="0" rtlCol="0" anchor="t"/>
          <a:lstStyle/>
          <a:p>
            <a:r>
              <a:rPr lang="en-US" sz="900" b="1" dirty="0"/>
              <a:t>Dataset: UCI Heart Disease                                                            Key Predictors:</a:t>
            </a:r>
          </a:p>
          <a:p>
            <a:r>
              <a:rPr lang="en-US" sz="900" b="1" dirty="0"/>
              <a:t>Size:</a:t>
            </a:r>
            <a:r>
              <a:rPr lang="en-US" sz="900" dirty="0"/>
              <a:t> 303 Rows | 14 Columns                                                         </a:t>
            </a:r>
            <a:r>
              <a:rPr lang="en-US" sz="900" b="1" dirty="0"/>
              <a:t>Clinical:</a:t>
            </a:r>
            <a:r>
              <a:rPr lang="en-US" sz="900" dirty="0"/>
              <a:t> Chest Pain, Blood Pressure, Cholesterol</a:t>
            </a:r>
          </a:p>
          <a:p>
            <a:r>
              <a:rPr lang="en-US" sz="900" b="1" dirty="0"/>
              <a:t>Integrity:</a:t>
            </a:r>
            <a:r>
              <a:rPr lang="en-US" sz="900" dirty="0"/>
              <a:t> 100% (No missing values)                                             </a:t>
            </a:r>
            <a:r>
              <a:rPr lang="en-US" sz="900" b="1" dirty="0"/>
              <a:t>Biometric:</a:t>
            </a:r>
            <a:r>
              <a:rPr lang="en-US" sz="900" dirty="0"/>
              <a:t> Max Heart Rate, ST Depression (ECG)</a:t>
            </a:r>
          </a:p>
          <a:p>
            <a:r>
              <a:rPr lang="en-US" sz="900" b="1" dirty="0"/>
              <a:t>Type:</a:t>
            </a:r>
            <a:r>
              <a:rPr lang="en-US" sz="900" dirty="0"/>
              <a:t> Binary Classification (Target: 0 vs. 1)                                 </a:t>
            </a:r>
            <a:r>
              <a:rPr lang="en-US" sz="900" b="1" dirty="0"/>
              <a:t>Demographic:</a:t>
            </a:r>
            <a:r>
              <a:rPr lang="en-US" sz="900" dirty="0"/>
              <a:t> Age, Sex</a:t>
            </a:r>
          </a:p>
        </p:txBody>
      </p:sp>
      <p:sp>
        <p:nvSpPr>
          <p:cNvPr id="41" name="Shape 36"/>
          <p:cNvSpPr/>
          <p:nvPr/>
        </p:nvSpPr>
        <p:spPr>
          <a:xfrm>
            <a:off x="4663440" y="4846320"/>
            <a:ext cx="7040880" cy="1325880"/>
          </a:xfrm>
          <a:prstGeom prst="rect">
            <a:avLst/>
          </a:prstGeom>
          <a:solidFill>
            <a:srgbClr val="F7F8FB"/>
          </a:solidFill>
          <a:ln w="9525">
            <a:solidFill>
              <a:srgbClr val="E5E7EB"/>
            </a:solidFill>
            <a:prstDash val="solid"/>
          </a:ln>
        </p:spPr>
        <p:txBody>
          <a:bodyPr/>
          <a:lstStyle/>
          <a:p>
            <a:endParaRPr lang="en-US"/>
          </a:p>
        </p:txBody>
      </p:sp>
      <p:sp>
        <p:nvSpPr>
          <p:cNvPr id="42" name="Shape 37"/>
          <p:cNvSpPr/>
          <p:nvPr/>
        </p:nvSpPr>
        <p:spPr>
          <a:xfrm>
            <a:off x="4663440" y="4846320"/>
            <a:ext cx="91440" cy="1325880"/>
          </a:xfrm>
          <a:prstGeom prst="rect">
            <a:avLst/>
          </a:prstGeom>
          <a:solidFill>
            <a:srgbClr val="001F5B"/>
          </a:solidFill>
          <a:ln w="12700">
            <a:solidFill>
              <a:srgbClr val="001F5B"/>
            </a:solidFill>
            <a:prstDash val="solid"/>
          </a:ln>
        </p:spPr>
        <p:txBody>
          <a:bodyPr/>
          <a:lstStyle/>
          <a:p>
            <a:endParaRPr lang="en-US"/>
          </a:p>
        </p:txBody>
      </p:sp>
      <p:sp>
        <p:nvSpPr>
          <p:cNvPr id="43" name="Shape 38"/>
          <p:cNvSpPr/>
          <p:nvPr/>
        </p:nvSpPr>
        <p:spPr>
          <a:xfrm>
            <a:off x="4983480" y="5166360"/>
            <a:ext cx="685800" cy="685800"/>
          </a:xfrm>
          <a:prstGeom prst="ellipse">
            <a:avLst/>
          </a:prstGeom>
          <a:solidFill>
            <a:srgbClr val="FFFFFF"/>
          </a:solidFill>
          <a:ln w="19050">
            <a:solidFill>
              <a:srgbClr val="001F5B"/>
            </a:solidFill>
            <a:prstDash val="solid"/>
          </a:ln>
        </p:spPr>
        <p:txBody>
          <a:bodyPr/>
          <a:lstStyle/>
          <a:p>
            <a:endParaRPr lang="en-US"/>
          </a:p>
        </p:txBody>
      </p:sp>
      <p:pic>
        <p:nvPicPr>
          <p:cNvPr id="44" name="Image 3" descr="preencoded.png"/>
          <p:cNvPicPr>
            <a:picLocks noChangeAspect="1"/>
          </p:cNvPicPr>
          <p:nvPr/>
        </p:nvPicPr>
        <p:blipFill>
          <a:blip r:embed="rId7"/>
          <a:stretch>
            <a:fillRect/>
          </a:stretch>
        </p:blipFill>
        <p:spPr>
          <a:xfrm>
            <a:off x="5148072" y="5330952"/>
            <a:ext cx="356616" cy="356616"/>
          </a:xfrm>
          <a:prstGeom prst="rect">
            <a:avLst/>
          </a:prstGeom>
        </p:spPr>
      </p:pic>
      <p:sp>
        <p:nvSpPr>
          <p:cNvPr id="45" name="Text 39"/>
          <p:cNvSpPr/>
          <p:nvPr/>
        </p:nvSpPr>
        <p:spPr>
          <a:xfrm>
            <a:off x="5852160" y="5029200"/>
            <a:ext cx="5669280" cy="411480"/>
          </a:xfrm>
          <a:prstGeom prst="rect">
            <a:avLst/>
          </a:prstGeom>
          <a:noFill/>
          <a:ln/>
        </p:spPr>
        <p:txBody>
          <a:bodyPr wrap="square" lIns="0" tIns="0" rIns="0" bIns="0" rtlCol="0" anchor="ctr"/>
          <a:lstStyle/>
          <a:p>
            <a:pPr marL="0" indent="0">
              <a:buNone/>
            </a:pPr>
            <a:r>
              <a:rPr lang="en-US" sz="1700" b="1" dirty="0">
                <a:solidFill>
                  <a:srgbClr val="001F5B"/>
                </a:solidFill>
                <a:latin typeface="Calibri" pitchFamily="34" charset="0"/>
                <a:ea typeface="Calibri" pitchFamily="34" charset="-122"/>
                <a:cs typeface="Calibri" pitchFamily="34" charset="-120"/>
              </a:rPr>
              <a:t>Domain Relevance</a:t>
            </a:r>
            <a:endParaRPr lang="en-US" sz="1700" dirty="0"/>
          </a:p>
        </p:txBody>
      </p:sp>
      <p:sp>
        <p:nvSpPr>
          <p:cNvPr id="46" name="Text 40"/>
          <p:cNvSpPr/>
          <p:nvPr/>
        </p:nvSpPr>
        <p:spPr>
          <a:xfrm>
            <a:off x="5852160" y="5440680"/>
            <a:ext cx="5669280" cy="640080"/>
          </a:xfrm>
          <a:prstGeom prst="rect">
            <a:avLst/>
          </a:prstGeom>
          <a:noFill/>
          <a:ln/>
        </p:spPr>
        <p:txBody>
          <a:bodyPr wrap="square" lIns="0" tIns="0" rIns="0" bIns="0" rtlCol="0" anchor="t"/>
          <a:lstStyle/>
          <a:p>
            <a:r>
              <a:rPr lang="en-US" sz="1000" dirty="0">
                <a:latin typeface="Georgia" panose="02040502050405020303" pitchFamily="18" charset="0"/>
              </a:rPr>
              <a:t>This dataset is a clinical benchmark from the UCI repository that features high-relevance metrics like chest pain type and max heart rate, making it a reliable foundation for validating predictive models.</a:t>
            </a:r>
          </a:p>
          <a:p>
            <a:endParaRPr lang="en-US" sz="1000" dirty="0">
              <a:latin typeface="Georgia" panose="02040502050405020303" pitchFamily="18" charset="0"/>
            </a:endParaRPr>
          </a:p>
          <a:p>
            <a:r>
              <a:rPr lang="en-US" sz="1000" dirty="0">
                <a:latin typeface="Georgia" panose="02040502050405020303" pitchFamily="18" charset="0"/>
              </a:rPr>
              <a:t>This is a small dataset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03 · EXPLORATION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Data Exploration &amp; Key Insights</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What the data reveals before any modeling happens</a:t>
            </a:r>
            <a:endParaRPr lang="en-US" sz="1200" dirty="0"/>
          </a:p>
        </p:txBody>
      </p:sp>
      <p:sp>
        <p:nvSpPr>
          <p:cNvPr id="15" name="Text 12"/>
          <p:cNvSpPr/>
          <p:nvPr/>
        </p:nvSpPr>
        <p:spPr>
          <a:xfrm>
            <a:off x="457200" y="1828800"/>
            <a:ext cx="4846320" cy="274320"/>
          </a:xfrm>
          <a:prstGeom prst="rect">
            <a:avLst/>
          </a:prstGeom>
          <a:noFill/>
          <a:ln/>
        </p:spPr>
        <p:txBody>
          <a:bodyPr wrap="square" lIns="0" tIns="0" rIns="0" bIns="0" rtlCol="0" anchor="ctr"/>
          <a:lstStyle/>
          <a:p>
            <a:pPr marL="0" indent="0">
              <a:buNone/>
            </a:pPr>
            <a:r>
              <a:rPr lang="en-US" sz="1100" b="1" kern="0" spc="400" dirty="0">
                <a:solidFill>
                  <a:srgbClr val="C8102E"/>
                </a:solidFill>
                <a:latin typeface="Calibri" pitchFamily="34" charset="0"/>
                <a:ea typeface="Calibri" pitchFamily="34" charset="-122"/>
                <a:cs typeface="Calibri" pitchFamily="34" charset="-120"/>
              </a:rPr>
              <a:t>WHAT TO COVER</a:t>
            </a:r>
            <a:endParaRPr lang="en-US" sz="1100" dirty="0"/>
          </a:p>
        </p:txBody>
      </p:sp>
      <p:pic>
        <p:nvPicPr>
          <p:cNvPr id="16" name="Image 1" descr="preencoded.png"/>
          <p:cNvPicPr>
            <a:picLocks noChangeAspect="1"/>
          </p:cNvPicPr>
          <p:nvPr/>
        </p:nvPicPr>
        <p:blipFill>
          <a:blip r:embed="rId4"/>
          <a:stretch>
            <a:fillRect/>
          </a:stretch>
        </p:blipFill>
        <p:spPr>
          <a:xfrm>
            <a:off x="457200" y="2331720"/>
            <a:ext cx="320040" cy="320040"/>
          </a:xfrm>
          <a:prstGeom prst="rect">
            <a:avLst/>
          </a:prstGeom>
        </p:spPr>
      </p:pic>
      <p:sp>
        <p:nvSpPr>
          <p:cNvPr id="17" name="Text 13"/>
          <p:cNvSpPr/>
          <p:nvPr/>
        </p:nvSpPr>
        <p:spPr>
          <a:xfrm>
            <a:off x="914400" y="2286000"/>
            <a:ext cx="4389120" cy="365760"/>
          </a:xfrm>
          <a:prstGeom prst="rect">
            <a:avLst/>
          </a:prstGeom>
          <a:noFill/>
          <a:ln/>
        </p:spPr>
        <p:txBody>
          <a:bodyPr wrap="square" lIns="0" tIns="0" rIns="0" bIns="0" rtlCol="0" anchor="ctr"/>
          <a:lstStyle/>
          <a:p>
            <a:pPr marL="0" indent="0">
              <a:buNone/>
            </a:pPr>
            <a:r>
              <a:rPr lang="en-US" sz="1600" b="1" dirty="0">
                <a:solidFill>
                  <a:srgbClr val="001F5B"/>
                </a:solidFill>
                <a:latin typeface="Calibri" pitchFamily="34" charset="0"/>
                <a:ea typeface="Calibri" pitchFamily="34" charset="-122"/>
                <a:cs typeface="Calibri" pitchFamily="34" charset="-120"/>
              </a:rPr>
              <a:t>Summary statistics</a:t>
            </a:r>
            <a:endParaRPr lang="en-US" sz="1600" dirty="0"/>
          </a:p>
        </p:txBody>
      </p:sp>
      <p:sp>
        <p:nvSpPr>
          <p:cNvPr id="18" name="Text 14"/>
          <p:cNvSpPr/>
          <p:nvPr/>
        </p:nvSpPr>
        <p:spPr>
          <a:xfrm>
            <a:off x="914400" y="2670048"/>
            <a:ext cx="4389120" cy="640080"/>
          </a:xfrm>
          <a:prstGeom prst="rect">
            <a:avLst/>
          </a:prstGeom>
          <a:noFill/>
          <a:ln/>
        </p:spPr>
        <p:txBody>
          <a:bodyPr wrap="square" lIns="0" tIns="0" rIns="0" bIns="0" rtlCol="0" anchor="ctr"/>
          <a:lstStyle/>
          <a:p>
            <a:pPr lvl="0" eaLnBrk="0" fontAlgn="base" hangingPunct="0">
              <a:spcBef>
                <a:spcPct val="0"/>
              </a:spcBef>
              <a:spcAft>
                <a:spcPct val="0"/>
              </a:spcAft>
              <a:buFontTx/>
              <a:buChar char="•"/>
            </a:pPr>
            <a:r>
              <a:rPr lang="en-US" altLang="en-US" sz="900" b="1" dirty="0">
                <a:latin typeface="Arial" panose="020B0604020202020204" pitchFamily="34" charset="0"/>
              </a:rPr>
              <a:t>Averages:</a:t>
            </a:r>
            <a:r>
              <a:rPr lang="en-US" altLang="en-US" sz="900" dirty="0">
                <a:latin typeface="Arial" panose="020B0604020202020204" pitchFamily="34" charset="0"/>
              </a:rPr>
              <a:t> Typical patient: </a:t>
            </a:r>
            <a:r>
              <a:rPr lang="en-US" altLang="en-US" sz="900" b="1" dirty="0">
                <a:latin typeface="Arial" panose="020B0604020202020204" pitchFamily="34" charset="0"/>
              </a:rPr>
              <a:t>54 years old</a:t>
            </a:r>
            <a:r>
              <a:rPr lang="en-US" altLang="en-US" sz="900" dirty="0">
                <a:latin typeface="Arial" panose="020B0604020202020204" pitchFamily="34" charset="0"/>
              </a:rPr>
              <a:t>, mean cholesterol of </a:t>
            </a:r>
            <a:r>
              <a:rPr lang="en-US" altLang="en-US" sz="900" b="1" dirty="0">
                <a:latin typeface="Arial" panose="020B0604020202020204" pitchFamily="34" charset="0"/>
              </a:rPr>
              <a:t>246 mg/dl</a:t>
            </a:r>
            <a:r>
              <a:rPr lang="en-US" altLang="en-US" sz="900" dirty="0">
                <a:latin typeface="Arial" panose="020B0604020202020204" pitchFamily="34" charset="0"/>
              </a:rPr>
              <a:t> and resting blood pressure of </a:t>
            </a:r>
            <a:r>
              <a:rPr lang="en-US" altLang="en-US" sz="900" b="1" dirty="0">
                <a:latin typeface="Arial" panose="020B0604020202020204" pitchFamily="34" charset="0"/>
              </a:rPr>
              <a:t>131 mm Hg</a:t>
            </a:r>
            <a:r>
              <a:rPr lang="en-US" altLang="en-US" sz="900" dirty="0">
                <a:latin typeface="Arial" panose="020B0604020202020204" pitchFamily="34" charset="0"/>
              </a:rPr>
              <a:t>.</a:t>
            </a:r>
          </a:p>
          <a:p>
            <a:pPr lvl="0" eaLnBrk="0" fontAlgn="base" hangingPunct="0">
              <a:spcBef>
                <a:spcPct val="0"/>
              </a:spcBef>
              <a:spcAft>
                <a:spcPct val="0"/>
              </a:spcAft>
              <a:buFontTx/>
              <a:buChar char="•"/>
            </a:pPr>
            <a:r>
              <a:rPr lang="en-US" altLang="en-US" sz="900" b="1" dirty="0">
                <a:latin typeface="Arial" panose="020B0604020202020204" pitchFamily="34" charset="0"/>
              </a:rPr>
              <a:t>Medians:</a:t>
            </a:r>
            <a:r>
              <a:rPr lang="en-US" altLang="en-US" sz="900" dirty="0">
                <a:latin typeface="Arial" panose="020B0604020202020204" pitchFamily="34" charset="0"/>
              </a:rPr>
              <a:t> The median values closely align with the means.</a:t>
            </a:r>
          </a:p>
          <a:p>
            <a:pPr lvl="0" eaLnBrk="0" fontAlgn="base" hangingPunct="0">
              <a:spcBef>
                <a:spcPct val="0"/>
              </a:spcBef>
              <a:spcAft>
                <a:spcPct val="0"/>
              </a:spcAft>
              <a:buFontTx/>
              <a:buChar char="•"/>
            </a:pPr>
            <a:r>
              <a:rPr lang="en-US" altLang="en-US" sz="900" b="1" dirty="0">
                <a:latin typeface="Arial" panose="020B0604020202020204" pitchFamily="34" charset="0"/>
              </a:rPr>
              <a:t>Spread:</a:t>
            </a:r>
            <a:r>
              <a:rPr lang="en-US" altLang="en-US" sz="900" dirty="0">
                <a:latin typeface="Arial" panose="020B0604020202020204" pitchFamily="34" charset="0"/>
              </a:rPr>
              <a:t> There is significant variability in cholesterol (standard deviation of </a:t>
            </a:r>
            <a:r>
              <a:rPr lang="en-US" altLang="en-US" sz="900" b="1" dirty="0">
                <a:latin typeface="Arial" panose="020B0604020202020204" pitchFamily="34" charset="0"/>
              </a:rPr>
              <a:t>~52</a:t>
            </a:r>
            <a:r>
              <a:rPr lang="en-US" altLang="en-US" sz="900" dirty="0">
                <a:latin typeface="Arial" panose="020B0604020202020204" pitchFamily="34" charset="0"/>
              </a:rPr>
              <a:t>) and max heart rate (</a:t>
            </a:r>
            <a:r>
              <a:rPr lang="en-US" altLang="en-US" sz="900" b="1" dirty="0">
                <a:latin typeface="Arial" panose="020B0604020202020204" pitchFamily="34" charset="0"/>
              </a:rPr>
              <a:t>~23</a:t>
            </a:r>
            <a:r>
              <a:rPr lang="en-US" altLang="en-US" sz="900" dirty="0">
                <a:latin typeface="Arial" panose="020B0604020202020204" pitchFamily="34" charset="0"/>
              </a:rPr>
              <a:t>), indicating a diverse range of patient health profiles.</a:t>
            </a:r>
          </a:p>
        </p:txBody>
      </p:sp>
      <p:pic>
        <p:nvPicPr>
          <p:cNvPr id="19" name="Image 2" descr="preencoded.png"/>
          <p:cNvPicPr>
            <a:picLocks noChangeAspect="1"/>
          </p:cNvPicPr>
          <p:nvPr/>
        </p:nvPicPr>
        <p:blipFill>
          <a:blip r:embed="rId4"/>
          <a:stretch>
            <a:fillRect/>
          </a:stretch>
        </p:blipFill>
        <p:spPr>
          <a:xfrm>
            <a:off x="457200" y="3474720"/>
            <a:ext cx="320040" cy="320040"/>
          </a:xfrm>
          <a:prstGeom prst="rect">
            <a:avLst/>
          </a:prstGeom>
        </p:spPr>
      </p:pic>
      <p:sp>
        <p:nvSpPr>
          <p:cNvPr id="20" name="Text 15"/>
          <p:cNvSpPr/>
          <p:nvPr/>
        </p:nvSpPr>
        <p:spPr>
          <a:xfrm>
            <a:off x="914400" y="3429000"/>
            <a:ext cx="4389120" cy="365760"/>
          </a:xfrm>
          <a:prstGeom prst="rect">
            <a:avLst/>
          </a:prstGeom>
          <a:noFill/>
          <a:ln/>
        </p:spPr>
        <p:txBody>
          <a:bodyPr wrap="square" lIns="0" tIns="0" rIns="0" bIns="0" rtlCol="0" anchor="ctr"/>
          <a:lstStyle/>
          <a:p>
            <a:pPr marL="0" indent="0">
              <a:buNone/>
            </a:pPr>
            <a:r>
              <a:rPr lang="en-US" sz="1600" b="1" dirty="0">
                <a:solidFill>
                  <a:srgbClr val="001F5B"/>
                </a:solidFill>
                <a:latin typeface="Calibri" pitchFamily="34" charset="0"/>
                <a:ea typeface="Calibri" pitchFamily="34" charset="-122"/>
                <a:cs typeface="Calibri" pitchFamily="34" charset="-120"/>
              </a:rPr>
              <a:t>Visuals</a:t>
            </a:r>
            <a:endParaRPr lang="en-US" sz="1600" dirty="0"/>
          </a:p>
        </p:txBody>
      </p:sp>
      <p:sp>
        <p:nvSpPr>
          <p:cNvPr id="21" name="Text 16"/>
          <p:cNvSpPr/>
          <p:nvPr/>
        </p:nvSpPr>
        <p:spPr>
          <a:xfrm>
            <a:off x="914400" y="3813048"/>
            <a:ext cx="4389120" cy="64008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This correlation heatmap illustrates the linear relationships between my features and identifies how strongly each variable relates to the presence of heart disease.</a:t>
            </a:r>
            <a:endParaRPr lang="en-US" sz="1200" dirty="0"/>
          </a:p>
        </p:txBody>
      </p:sp>
      <p:pic>
        <p:nvPicPr>
          <p:cNvPr id="22" name="Image 3" descr="preencoded.png"/>
          <p:cNvPicPr>
            <a:picLocks noChangeAspect="1"/>
          </p:cNvPicPr>
          <p:nvPr/>
        </p:nvPicPr>
        <p:blipFill>
          <a:blip r:embed="rId4"/>
          <a:stretch>
            <a:fillRect/>
          </a:stretch>
        </p:blipFill>
        <p:spPr>
          <a:xfrm>
            <a:off x="457200" y="4617720"/>
            <a:ext cx="320040" cy="320040"/>
          </a:xfrm>
          <a:prstGeom prst="rect">
            <a:avLst/>
          </a:prstGeom>
        </p:spPr>
      </p:pic>
      <p:sp>
        <p:nvSpPr>
          <p:cNvPr id="23" name="Text 17"/>
          <p:cNvSpPr/>
          <p:nvPr/>
        </p:nvSpPr>
        <p:spPr>
          <a:xfrm>
            <a:off x="914400" y="4572000"/>
            <a:ext cx="4389120" cy="365760"/>
          </a:xfrm>
          <a:prstGeom prst="rect">
            <a:avLst/>
          </a:prstGeom>
          <a:noFill/>
          <a:ln/>
        </p:spPr>
        <p:txBody>
          <a:bodyPr wrap="square" lIns="0" tIns="0" rIns="0" bIns="0" rtlCol="0" anchor="ctr"/>
          <a:lstStyle/>
          <a:p>
            <a:pPr marL="0" indent="0">
              <a:buNone/>
            </a:pPr>
            <a:r>
              <a:rPr lang="en-US" sz="1600" b="1" dirty="0">
                <a:solidFill>
                  <a:srgbClr val="001F5B"/>
                </a:solidFill>
                <a:latin typeface="Calibri" pitchFamily="34" charset="0"/>
                <a:ea typeface="Calibri" pitchFamily="34" charset="-122"/>
                <a:cs typeface="Calibri" pitchFamily="34" charset="-120"/>
              </a:rPr>
              <a:t>Notable trends &amp; outliers</a:t>
            </a:r>
            <a:endParaRPr lang="en-US" sz="1600" dirty="0"/>
          </a:p>
        </p:txBody>
      </p:sp>
      <p:sp>
        <p:nvSpPr>
          <p:cNvPr id="24" name="Text 18"/>
          <p:cNvSpPr/>
          <p:nvPr/>
        </p:nvSpPr>
        <p:spPr>
          <a:xfrm>
            <a:off x="914400" y="4956048"/>
            <a:ext cx="4389120" cy="640080"/>
          </a:xfrm>
          <a:prstGeom prst="rect">
            <a:avLst/>
          </a:prstGeom>
          <a:noFill/>
          <a:ln/>
        </p:spPr>
        <p:txBody>
          <a:bodyPr wrap="square" lIns="0" tIns="0" rIns="0" bIns="0" rtlCol="0" anchor="ctr"/>
          <a:lstStyle/>
          <a:p>
            <a:r>
              <a:rPr lang="en-US" sz="1000" dirty="0"/>
              <a:t>Serum cholesterol (</a:t>
            </a:r>
            <a:r>
              <a:rPr lang="en-US" sz="1000" dirty="0" err="1"/>
              <a:t>chol</a:t>
            </a:r>
            <a:r>
              <a:rPr lang="en-US" sz="1000" dirty="0"/>
              <a:t>) and resting blood pressure (</a:t>
            </a:r>
            <a:r>
              <a:rPr lang="en-US" sz="1000" dirty="0" err="1"/>
              <a:t>trestbps</a:t>
            </a:r>
            <a:r>
              <a:rPr lang="en-US" sz="1000" dirty="0"/>
              <a:t>) features contain noticeable outliers, such as cholesterol levels exceeding </a:t>
            </a:r>
            <a:r>
              <a:rPr lang="en-US" sz="1000" b="1" dirty="0"/>
              <a:t>400 mg/dl</a:t>
            </a:r>
            <a:r>
              <a:rPr lang="en-US" sz="1000" dirty="0"/>
              <a:t> and blood pressure readings above </a:t>
            </a:r>
            <a:r>
              <a:rPr lang="en-US" sz="1000" b="1" dirty="0"/>
              <a:t>170 mm Hg</a:t>
            </a:r>
            <a:r>
              <a:rPr lang="en-US" sz="1000" dirty="0"/>
              <a:t>. These values are clinically extreme and could either represent rare high-risk cases or potential data entry errors from the 1980s collection period. </a:t>
            </a:r>
          </a:p>
        </p:txBody>
      </p:sp>
      <p:sp>
        <p:nvSpPr>
          <p:cNvPr id="26" name="Shape 20"/>
          <p:cNvSpPr/>
          <p:nvPr/>
        </p:nvSpPr>
        <p:spPr>
          <a:xfrm>
            <a:off x="457200" y="5486400"/>
            <a:ext cx="91440" cy="777240"/>
          </a:xfrm>
          <a:prstGeom prst="rect">
            <a:avLst/>
          </a:prstGeom>
          <a:solidFill>
            <a:srgbClr val="C8102E"/>
          </a:solidFill>
          <a:ln w="12700">
            <a:solidFill>
              <a:srgbClr val="C8102E"/>
            </a:solidFill>
            <a:prstDash val="solid"/>
          </a:ln>
        </p:spPr>
        <p:txBody>
          <a:bodyPr/>
          <a:lstStyle/>
          <a:p>
            <a:endParaRPr lang="en-US"/>
          </a:p>
        </p:txBody>
      </p:sp>
      <p:sp>
        <p:nvSpPr>
          <p:cNvPr id="27" name="Text 21"/>
          <p:cNvSpPr/>
          <p:nvPr/>
        </p:nvSpPr>
        <p:spPr>
          <a:xfrm>
            <a:off x="685800" y="5559552"/>
            <a:ext cx="4572000" cy="274320"/>
          </a:xfrm>
          <a:prstGeom prst="rect">
            <a:avLst/>
          </a:prstGeom>
          <a:noFill/>
          <a:ln/>
        </p:spPr>
        <p:txBody>
          <a:bodyPr wrap="square" lIns="0" tIns="0" rIns="0" bIns="0" rtlCol="0" anchor="ctr"/>
          <a:lstStyle/>
          <a:p>
            <a:pPr marL="0" indent="0">
              <a:buNone/>
            </a:pPr>
            <a:endParaRPr lang="en-US" sz="1000" dirty="0"/>
          </a:p>
        </p:txBody>
      </p:sp>
      <p:sp>
        <p:nvSpPr>
          <p:cNvPr id="28" name="Text 22"/>
          <p:cNvSpPr/>
          <p:nvPr/>
        </p:nvSpPr>
        <p:spPr>
          <a:xfrm>
            <a:off x="685800" y="5815584"/>
            <a:ext cx="4572000" cy="457200"/>
          </a:xfrm>
          <a:prstGeom prst="rect">
            <a:avLst/>
          </a:prstGeom>
          <a:noFill/>
          <a:ln/>
        </p:spPr>
        <p:txBody>
          <a:bodyPr wrap="square" lIns="0" tIns="0" rIns="0" bIns="0" rtlCol="0" anchor="ctr"/>
          <a:lstStyle/>
          <a:p>
            <a:pPr marL="0" indent="0">
              <a:buNone/>
            </a:pPr>
            <a:endParaRPr lang="en-US" sz="1200" dirty="0"/>
          </a:p>
        </p:txBody>
      </p:sp>
      <p:sp>
        <p:nvSpPr>
          <p:cNvPr id="29" name="Shape 23"/>
          <p:cNvSpPr/>
          <p:nvPr/>
        </p:nvSpPr>
        <p:spPr>
          <a:xfrm>
            <a:off x="5669280" y="1828800"/>
            <a:ext cx="6035040" cy="4434840"/>
          </a:xfrm>
          <a:prstGeom prst="rect">
            <a:avLst/>
          </a:prstGeom>
          <a:solidFill>
            <a:srgbClr val="F7F8FB"/>
          </a:solidFill>
          <a:ln w="19050">
            <a:solidFill>
              <a:srgbClr val="E5E7EB"/>
            </a:solidFill>
            <a:prstDash val="dash"/>
          </a:ln>
        </p:spPr>
        <p:txBody>
          <a:bodyPr/>
          <a:lstStyle/>
          <a:p>
            <a:endParaRPr lang="en-US"/>
          </a:p>
        </p:txBody>
      </p:sp>
      <p:sp>
        <p:nvSpPr>
          <p:cNvPr id="30" name="Shape 24"/>
          <p:cNvSpPr/>
          <p:nvPr/>
        </p:nvSpPr>
        <p:spPr>
          <a:xfrm>
            <a:off x="5669280" y="1828800"/>
            <a:ext cx="914400" cy="91440"/>
          </a:xfrm>
          <a:prstGeom prst="rect">
            <a:avLst/>
          </a:prstGeom>
          <a:solidFill>
            <a:srgbClr val="C8102E"/>
          </a:solidFill>
          <a:ln w="12700">
            <a:solidFill>
              <a:srgbClr val="C8102E"/>
            </a:solidFill>
            <a:prstDash val="solid"/>
          </a:ln>
        </p:spPr>
        <p:txBody>
          <a:bodyPr/>
          <a:lstStyle/>
          <a:p>
            <a:endParaRPr lang="en-US"/>
          </a:p>
        </p:txBody>
      </p:sp>
      <p:pic>
        <p:nvPicPr>
          <p:cNvPr id="31" name="Image 4" descr="preencoded.png"/>
          <p:cNvPicPr>
            <a:picLocks noChangeAspect="1"/>
          </p:cNvPicPr>
          <p:nvPr/>
        </p:nvPicPr>
        <p:blipFill>
          <a:blip r:embed="rId5"/>
          <a:stretch>
            <a:fillRect/>
          </a:stretch>
        </p:blipFill>
        <p:spPr>
          <a:xfrm>
            <a:off x="8321040" y="3223260"/>
            <a:ext cx="731520" cy="731520"/>
          </a:xfrm>
          <a:prstGeom prst="rect">
            <a:avLst/>
          </a:prstGeom>
        </p:spPr>
      </p:pic>
      <p:sp>
        <p:nvSpPr>
          <p:cNvPr id="32" name="Text 25"/>
          <p:cNvSpPr/>
          <p:nvPr/>
        </p:nvSpPr>
        <p:spPr>
          <a:xfrm>
            <a:off x="5669280" y="4000500"/>
            <a:ext cx="6035040" cy="457200"/>
          </a:xfrm>
          <a:prstGeom prst="rect">
            <a:avLst/>
          </a:prstGeom>
          <a:noFill/>
          <a:ln/>
        </p:spPr>
        <p:txBody>
          <a:bodyPr wrap="square" lIns="0" tIns="0" rIns="0" bIns="0" rtlCol="0" anchor="ctr"/>
          <a:lstStyle/>
          <a:p>
            <a:pPr marL="0" indent="0" algn="ctr">
              <a:buNone/>
            </a:pPr>
            <a:r>
              <a:rPr lang="en-US" sz="1500" b="1" dirty="0">
                <a:solidFill>
                  <a:srgbClr val="001F5B"/>
                </a:solidFill>
                <a:latin typeface="Calibri" pitchFamily="34" charset="0"/>
                <a:ea typeface="Calibri" pitchFamily="34" charset="-122"/>
                <a:cs typeface="Calibri" pitchFamily="34" charset="-120"/>
              </a:rPr>
              <a:t>[ Paste your EDA visualization here ]</a:t>
            </a:r>
            <a:endParaRPr lang="en-US" sz="1500" dirty="0"/>
          </a:p>
        </p:txBody>
      </p:sp>
      <p:sp>
        <p:nvSpPr>
          <p:cNvPr id="33" name="Text 26"/>
          <p:cNvSpPr/>
          <p:nvPr/>
        </p:nvSpPr>
        <p:spPr>
          <a:xfrm>
            <a:off x="5669280" y="4411980"/>
            <a:ext cx="6035040" cy="365760"/>
          </a:xfrm>
          <a:prstGeom prst="rect">
            <a:avLst/>
          </a:prstGeom>
          <a:noFill/>
          <a:ln/>
        </p:spPr>
        <p:txBody>
          <a:bodyPr wrap="square" lIns="0" tIns="0" rIns="0" bIns="0"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Histogram · Correlation heatmap · Scatter · etc.</a:t>
            </a:r>
            <a:endParaRPr lang="en-US" sz="1200" dirty="0"/>
          </a:p>
        </p:txBody>
      </p:sp>
      <p:pic>
        <p:nvPicPr>
          <p:cNvPr id="34" name="Picture 33">
            <a:extLst>
              <a:ext uri="{FF2B5EF4-FFF2-40B4-BE49-F238E27FC236}">
                <a16:creationId xmlns:a16="http://schemas.microsoft.com/office/drawing/2014/main" id="{73F4C692-C5C5-148F-8EC7-B7FCEBF34102}"/>
              </a:ext>
            </a:extLst>
          </p:cNvPr>
          <p:cNvPicPr>
            <a:picLocks noChangeAspect="1"/>
          </p:cNvPicPr>
          <p:nvPr/>
        </p:nvPicPr>
        <p:blipFill>
          <a:blip r:embed="rId6"/>
          <a:stretch>
            <a:fillRect/>
          </a:stretch>
        </p:blipFill>
        <p:spPr>
          <a:xfrm>
            <a:off x="6583680" y="1828800"/>
            <a:ext cx="4754880" cy="44286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04 · PREPARATION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2272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Data Cleaning &amp; Feature Engineering</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From raw dataframe to model-ready matrix</a:t>
            </a:r>
            <a:endParaRPr lang="en-US" sz="1200" dirty="0"/>
          </a:p>
        </p:txBody>
      </p:sp>
      <p:sp>
        <p:nvSpPr>
          <p:cNvPr id="15" name="Shape 12"/>
          <p:cNvSpPr/>
          <p:nvPr/>
        </p:nvSpPr>
        <p:spPr>
          <a:xfrm>
            <a:off x="457200" y="1920240"/>
            <a:ext cx="3703320" cy="429768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6" name="Shape 13"/>
          <p:cNvSpPr/>
          <p:nvPr/>
        </p:nvSpPr>
        <p:spPr>
          <a:xfrm>
            <a:off x="457200" y="1920240"/>
            <a:ext cx="3703320" cy="960120"/>
          </a:xfrm>
          <a:prstGeom prst="rect">
            <a:avLst/>
          </a:prstGeom>
          <a:solidFill>
            <a:srgbClr val="001F5B"/>
          </a:solidFill>
          <a:ln w="12700">
            <a:solidFill>
              <a:srgbClr val="001F5B"/>
            </a:solidFill>
            <a:prstDash val="solid"/>
          </a:ln>
        </p:spPr>
        <p:txBody>
          <a:bodyPr/>
          <a:lstStyle/>
          <a:p>
            <a:endParaRPr lang="en-US"/>
          </a:p>
        </p:txBody>
      </p:sp>
      <p:sp>
        <p:nvSpPr>
          <p:cNvPr id="17" name="Text 14"/>
          <p:cNvSpPr/>
          <p:nvPr/>
        </p:nvSpPr>
        <p:spPr>
          <a:xfrm>
            <a:off x="731520" y="2029968"/>
            <a:ext cx="1097280" cy="731520"/>
          </a:xfrm>
          <a:prstGeom prst="rect">
            <a:avLst/>
          </a:prstGeom>
          <a:noFill/>
          <a:ln/>
        </p:spPr>
        <p:txBody>
          <a:bodyPr wrap="square" lIns="0" tIns="0" rIns="0" bIns="0" rtlCol="0" anchor="ctr"/>
          <a:lstStyle/>
          <a:p>
            <a:pPr marL="0" indent="0">
              <a:buNone/>
            </a:pPr>
            <a:r>
              <a:rPr lang="en-US" sz="4400" b="1" dirty="0">
                <a:solidFill>
                  <a:srgbClr val="C8102E"/>
                </a:solidFill>
                <a:latin typeface="Georgia" pitchFamily="34" charset="0"/>
                <a:ea typeface="Georgia" pitchFamily="34" charset="-122"/>
                <a:cs typeface="Georgia" pitchFamily="34" charset="-120"/>
              </a:rPr>
              <a:t>01</a:t>
            </a:r>
            <a:endParaRPr lang="en-US" sz="4400" dirty="0"/>
          </a:p>
        </p:txBody>
      </p:sp>
      <p:sp>
        <p:nvSpPr>
          <p:cNvPr id="18" name="Text 15"/>
          <p:cNvSpPr/>
          <p:nvPr/>
        </p:nvSpPr>
        <p:spPr>
          <a:xfrm>
            <a:off x="1828800" y="2029968"/>
            <a:ext cx="214884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Handle Missing Data</a:t>
            </a:r>
            <a:endParaRPr lang="en-US" sz="1600" dirty="0"/>
          </a:p>
        </p:txBody>
      </p:sp>
      <p:sp>
        <p:nvSpPr>
          <p:cNvPr id="19" name="Text 16"/>
          <p:cNvSpPr/>
          <p:nvPr/>
        </p:nvSpPr>
        <p:spPr>
          <a:xfrm>
            <a:off x="731520" y="3108960"/>
            <a:ext cx="3154680" cy="1828800"/>
          </a:xfrm>
          <a:prstGeom prst="rect">
            <a:avLst/>
          </a:prstGeom>
          <a:noFill/>
          <a:ln/>
        </p:spPr>
        <p:txBody>
          <a:bodyPr wrap="square" lIns="0" tIns="0" rIns="0" bIns="0" rtlCol="0" anchor="t"/>
          <a:lstStyle/>
          <a:p>
            <a:r>
              <a:rPr lang="en-US" sz="1600" dirty="0"/>
              <a:t>Major Vessels Colored (ca) and Thalassemia (</a:t>
            </a:r>
            <a:r>
              <a:rPr lang="en-US" sz="1600" dirty="0" err="1"/>
              <a:t>thal</a:t>
            </a:r>
            <a:r>
              <a:rPr lang="en-US" sz="1600" dirty="0"/>
              <a:t>). These were imputed because they are high-priority predictors for heart disease, and retaining the rows was more beneficial for the model's training than dropping them from the small sample of observations.</a:t>
            </a:r>
          </a:p>
        </p:txBody>
      </p:sp>
      <p:sp>
        <p:nvSpPr>
          <p:cNvPr id="20" name="Text 17"/>
          <p:cNvSpPr/>
          <p:nvPr/>
        </p:nvSpPr>
        <p:spPr>
          <a:xfrm>
            <a:off x="731520" y="4937760"/>
            <a:ext cx="3154680" cy="228600"/>
          </a:xfrm>
          <a:prstGeom prst="rect">
            <a:avLst/>
          </a:prstGeom>
          <a:noFill/>
          <a:ln/>
        </p:spPr>
        <p:txBody>
          <a:bodyPr wrap="square" lIns="0" tIns="0" rIns="0" bIns="0" rtlCol="0" anchor="ctr"/>
          <a:lstStyle/>
          <a:p>
            <a:pPr marL="0" indent="0">
              <a:buNone/>
            </a:pPr>
            <a:endParaRPr lang="en-US" sz="900" dirty="0"/>
          </a:p>
        </p:txBody>
      </p:sp>
      <p:sp>
        <p:nvSpPr>
          <p:cNvPr id="22" name="Text 19"/>
          <p:cNvSpPr/>
          <p:nvPr/>
        </p:nvSpPr>
        <p:spPr>
          <a:xfrm>
            <a:off x="731520" y="5212080"/>
            <a:ext cx="740664" cy="320040"/>
          </a:xfrm>
          <a:prstGeom prst="rect">
            <a:avLst/>
          </a:prstGeom>
          <a:noFill/>
          <a:ln/>
        </p:spPr>
        <p:txBody>
          <a:bodyPr wrap="square" lIns="0" tIns="0" rIns="0" bIns="0" rtlCol="0" anchor="ctr"/>
          <a:lstStyle/>
          <a:p>
            <a:pPr marL="0" indent="0" algn="ctr">
              <a:buNone/>
            </a:pPr>
            <a:endParaRPr lang="en-US" sz="1000" dirty="0"/>
          </a:p>
        </p:txBody>
      </p:sp>
      <p:sp>
        <p:nvSpPr>
          <p:cNvPr id="24" name="Text 21"/>
          <p:cNvSpPr/>
          <p:nvPr/>
        </p:nvSpPr>
        <p:spPr>
          <a:xfrm>
            <a:off x="1563624" y="5212080"/>
            <a:ext cx="740664" cy="320040"/>
          </a:xfrm>
          <a:prstGeom prst="rect">
            <a:avLst/>
          </a:prstGeom>
          <a:noFill/>
          <a:ln/>
        </p:spPr>
        <p:txBody>
          <a:bodyPr wrap="square" lIns="0" tIns="0" rIns="0" bIns="0" rtlCol="0" anchor="ctr"/>
          <a:lstStyle/>
          <a:p>
            <a:pPr marL="0" indent="0" algn="ctr">
              <a:buNone/>
            </a:pPr>
            <a:endParaRPr lang="en-US" sz="1000" dirty="0"/>
          </a:p>
        </p:txBody>
      </p:sp>
      <p:sp>
        <p:nvSpPr>
          <p:cNvPr id="26" name="Text 23"/>
          <p:cNvSpPr/>
          <p:nvPr/>
        </p:nvSpPr>
        <p:spPr>
          <a:xfrm>
            <a:off x="2395728" y="5212080"/>
            <a:ext cx="1143000" cy="320040"/>
          </a:xfrm>
          <a:prstGeom prst="rect">
            <a:avLst/>
          </a:prstGeom>
          <a:noFill/>
          <a:ln/>
        </p:spPr>
        <p:txBody>
          <a:bodyPr wrap="square" lIns="0" tIns="0" rIns="0" bIns="0" rtlCol="0" anchor="ctr"/>
          <a:lstStyle/>
          <a:p>
            <a:pPr marL="0" indent="0" algn="ctr">
              <a:buNone/>
            </a:pPr>
            <a:endParaRPr lang="en-US" sz="1000" dirty="0"/>
          </a:p>
        </p:txBody>
      </p:sp>
      <p:sp>
        <p:nvSpPr>
          <p:cNvPr id="27" name="Shape 24"/>
          <p:cNvSpPr/>
          <p:nvPr/>
        </p:nvSpPr>
        <p:spPr>
          <a:xfrm>
            <a:off x="4297680" y="1920240"/>
            <a:ext cx="3703320" cy="429768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8" name="Shape 25"/>
          <p:cNvSpPr/>
          <p:nvPr/>
        </p:nvSpPr>
        <p:spPr>
          <a:xfrm>
            <a:off x="4297680" y="1920240"/>
            <a:ext cx="3703320" cy="960120"/>
          </a:xfrm>
          <a:prstGeom prst="rect">
            <a:avLst/>
          </a:prstGeom>
          <a:solidFill>
            <a:srgbClr val="001F5B"/>
          </a:solidFill>
          <a:ln w="12700">
            <a:solidFill>
              <a:srgbClr val="001F5B"/>
            </a:solidFill>
            <a:prstDash val="solid"/>
          </a:ln>
        </p:spPr>
        <p:txBody>
          <a:bodyPr/>
          <a:lstStyle/>
          <a:p>
            <a:endParaRPr lang="en-US"/>
          </a:p>
        </p:txBody>
      </p:sp>
      <p:sp>
        <p:nvSpPr>
          <p:cNvPr id="29" name="Text 26"/>
          <p:cNvSpPr/>
          <p:nvPr/>
        </p:nvSpPr>
        <p:spPr>
          <a:xfrm>
            <a:off x="4572000" y="2029968"/>
            <a:ext cx="1097280" cy="731520"/>
          </a:xfrm>
          <a:prstGeom prst="rect">
            <a:avLst/>
          </a:prstGeom>
          <a:noFill/>
          <a:ln/>
        </p:spPr>
        <p:txBody>
          <a:bodyPr wrap="square" lIns="0" tIns="0" rIns="0" bIns="0" rtlCol="0" anchor="ctr"/>
          <a:lstStyle/>
          <a:p>
            <a:pPr marL="0" indent="0">
              <a:buNone/>
            </a:pPr>
            <a:r>
              <a:rPr lang="en-US" sz="4400" b="1" dirty="0">
                <a:solidFill>
                  <a:srgbClr val="C8102E"/>
                </a:solidFill>
                <a:latin typeface="Georgia" pitchFamily="34" charset="0"/>
                <a:ea typeface="Georgia" pitchFamily="34" charset="-122"/>
                <a:cs typeface="Georgia" pitchFamily="34" charset="-120"/>
              </a:rPr>
              <a:t>02</a:t>
            </a:r>
            <a:endParaRPr lang="en-US" sz="4400" dirty="0"/>
          </a:p>
        </p:txBody>
      </p:sp>
      <p:sp>
        <p:nvSpPr>
          <p:cNvPr id="30" name="Text 27"/>
          <p:cNvSpPr/>
          <p:nvPr/>
        </p:nvSpPr>
        <p:spPr>
          <a:xfrm>
            <a:off x="5669280" y="2029968"/>
            <a:ext cx="214884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Encoding &amp; Discretization</a:t>
            </a:r>
            <a:endParaRPr lang="en-US" sz="1600" dirty="0"/>
          </a:p>
        </p:txBody>
      </p:sp>
      <p:sp>
        <p:nvSpPr>
          <p:cNvPr id="31" name="Text 28"/>
          <p:cNvSpPr/>
          <p:nvPr/>
        </p:nvSpPr>
        <p:spPr>
          <a:xfrm>
            <a:off x="4572000" y="3108960"/>
            <a:ext cx="3154680" cy="1828800"/>
          </a:xfrm>
          <a:prstGeom prst="rect">
            <a:avLst/>
          </a:prstGeom>
          <a:noFill/>
          <a:ln/>
        </p:spPr>
        <p:txBody>
          <a:bodyPr wrap="square" lIns="0" tIns="0" rIns="0" bIns="0" rtlCol="0" anchor="t"/>
          <a:lstStyle/>
          <a:p>
            <a:r>
              <a:rPr lang="en-US" sz="1600" dirty="0"/>
              <a:t>I applied One-Hot Encoding to categorical variables such as chest pain type and thalassemia using a </a:t>
            </a:r>
            <a:r>
              <a:rPr lang="en-US" sz="1600" dirty="0" err="1"/>
              <a:t>ColumnTransformer</a:t>
            </a:r>
            <a:r>
              <a:rPr lang="en-US" sz="1600" dirty="0"/>
              <a:t> pipeline. This ensured the model treated these categories as distinct entities rather than ranked values. Additionally, I standardized continuous features like age and cholesterol using a </a:t>
            </a:r>
            <a:r>
              <a:rPr lang="en-US" sz="1600" dirty="0" err="1"/>
              <a:t>StandardScaler</a:t>
            </a:r>
            <a:r>
              <a:rPr lang="en-US" sz="1600" dirty="0"/>
              <a:t> to ensure all numerical inputs were on a comparable scale. </a:t>
            </a:r>
          </a:p>
        </p:txBody>
      </p:sp>
      <p:sp>
        <p:nvSpPr>
          <p:cNvPr id="32" name="Text 29"/>
          <p:cNvSpPr/>
          <p:nvPr/>
        </p:nvSpPr>
        <p:spPr>
          <a:xfrm>
            <a:off x="4572000" y="4937760"/>
            <a:ext cx="3154680" cy="228600"/>
          </a:xfrm>
          <a:prstGeom prst="rect">
            <a:avLst/>
          </a:prstGeom>
          <a:noFill/>
          <a:ln/>
        </p:spPr>
        <p:txBody>
          <a:bodyPr wrap="square" lIns="0" tIns="0" rIns="0" bIns="0" rtlCol="0" anchor="ctr"/>
          <a:lstStyle/>
          <a:p>
            <a:pPr marL="0" indent="0">
              <a:buNone/>
            </a:pPr>
            <a:endParaRPr lang="en-US" sz="900" dirty="0"/>
          </a:p>
        </p:txBody>
      </p:sp>
      <p:sp>
        <p:nvSpPr>
          <p:cNvPr id="34" name="Text 31"/>
          <p:cNvSpPr/>
          <p:nvPr/>
        </p:nvSpPr>
        <p:spPr>
          <a:xfrm>
            <a:off x="4572000" y="5212080"/>
            <a:ext cx="1243584" cy="320040"/>
          </a:xfrm>
          <a:prstGeom prst="rect">
            <a:avLst/>
          </a:prstGeom>
          <a:noFill/>
          <a:ln/>
        </p:spPr>
        <p:txBody>
          <a:bodyPr wrap="square" lIns="0" tIns="0" rIns="0" bIns="0" rtlCol="0" anchor="ctr"/>
          <a:lstStyle/>
          <a:p>
            <a:pPr marL="0" indent="0" algn="ctr">
              <a:buNone/>
            </a:pPr>
            <a:endParaRPr lang="en-US" sz="1000" dirty="0"/>
          </a:p>
        </p:txBody>
      </p:sp>
      <p:sp>
        <p:nvSpPr>
          <p:cNvPr id="36" name="Text 33"/>
          <p:cNvSpPr/>
          <p:nvPr/>
        </p:nvSpPr>
        <p:spPr>
          <a:xfrm>
            <a:off x="5907024" y="5212080"/>
            <a:ext cx="1344168" cy="320040"/>
          </a:xfrm>
          <a:prstGeom prst="rect">
            <a:avLst/>
          </a:prstGeom>
          <a:noFill/>
          <a:ln/>
        </p:spPr>
        <p:txBody>
          <a:bodyPr wrap="square" lIns="0" tIns="0" rIns="0" bIns="0" rtlCol="0" anchor="ctr"/>
          <a:lstStyle/>
          <a:p>
            <a:pPr marL="0" indent="0" algn="ctr">
              <a:buNone/>
            </a:pPr>
            <a:endParaRPr lang="en-US" sz="1000" dirty="0"/>
          </a:p>
        </p:txBody>
      </p:sp>
      <p:sp>
        <p:nvSpPr>
          <p:cNvPr id="38" name="Text 35"/>
          <p:cNvSpPr/>
          <p:nvPr/>
        </p:nvSpPr>
        <p:spPr>
          <a:xfrm>
            <a:off x="7342632" y="5212080"/>
            <a:ext cx="740664" cy="320040"/>
          </a:xfrm>
          <a:prstGeom prst="rect">
            <a:avLst/>
          </a:prstGeom>
          <a:noFill/>
          <a:ln/>
        </p:spPr>
        <p:txBody>
          <a:bodyPr wrap="square" lIns="0" tIns="0" rIns="0" bIns="0" rtlCol="0" anchor="ctr"/>
          <a:lstStyle/>
          <a:p>
            <a:pPr marL="0" indent="0" algn="ctr">
              <a:buNone/>
            </a:pPr>
            <a:endParaRPr lang="en-US" sz="1000" dirty="0"/>
          </a:p>
        </p:txBody>
      </p:sp>
      <p:sp>
        <p:nvSpPr>
          <p:cNvPr id="39" name="Shape 36"/>
          <p:cNvSpPr/>
          <p:nvPr/>
        </p:nvSpPr>
        <p:spPr>
          <a:xfrm>
            <a:off x="8138160" y="1920240"/>
            <a:ext cx="3703320" cy="429768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dirty="0"/>
          </a:p>
        </p:txBody>
      </p:sp>
      <p:sp>
        <p:nvSpPr>
          <p:cNvPr id="40" name="Shape 37"/>
          <p:cNvSpPr/>
          <p:nvPr/>
        </p:nvSpPr>
        <p:spPr>
          <a:xfrm>
            <a:off x="8138160" y="1920240"/>
            <a:ext cx="3703320" cy="960120"/>
          </a:xfrm>
          <a:prstGeom prst="rect">
            <a:avLst/>
          </a:prstGeom>
          <a:solidFill>
            <a:srgbClr val="001F5B"/>
          </a:solidFill>
          <a:ln w="12700">
            <a:solidFill>
              <a:srgbClr val="001F5B"/>
            </a:solidFill>
            <a:prstDash val="solid"/>
          </a:ln>
        </p:spPr>
        <p:txBody>
          <a:bodyPr/>
          <a:lstStyle/>
          <a:p>
            <a:endParaRPr lang="en-US"/>
          </a:p>
        </p:txBody>
      </p:sp>
      <p:sp>
        <p:nvSpPr>
          <p:cNvPr id="41" name="Text 38"/>
          <p:cNvSpPr/>
          <p:nvPr/>
        </p:nvSpPr>
        <p:spPr>
          <a:xfrm>
            <a:off x="8412480" y="2029968"/>
            <a:ext cx="1097280" cy="731520"/>
          </a:xfrm>
          <a:prstGeom prst="rect">
            <a:avLst/>
          </a:prstGeom>
          <a:noFill/>
          <a:ln/>
        </p:spPr>
        <p:txBody>
          <a:bodyPr wrap="square" lIns="0" tIns="0" rIns="0" bIns="0" rtlCol="0" anchor="ctr"/>
          <a:lstStyle/>
          <a:p>
            <a:pPr marL="0" indent="0">
              <a:buNone/>
            </a:pPr>
            <a:r>
              <a:rPr lang="en-US" sz="4400" b="1" dirty="0">
                <a:solidFill>
                  <a:srgbClr val="C8102E"/>
                </a:solidFill>
                <a:latin typeface="Georgia" pitchFamily="34" charset="0"/>
                <a:ea typeface="Georgia" pitchFamily="34" charset="-122"/>
                <a:cs typeface="Georgia" pitchFamily="34" charset="-120"/>
              </a:rPr>
              <a:t>03</a:t>
            </a:r>
            <a:endParaRPr lang="en-US" sz="4400" dirty="0"/>
          </a:p>
        </p:txBody>
      </p:sp>
      <p:sp>
        <p:nvSpPr>
          <p:cNvPr id="42" name="Text 39"/>
          <p:cNvSpPr/>
          <p:nvPr/>
        </p:nvSpPr>
        <p:spPr>
          <a:xfrm>
            <a:off x="9509760" y="2029968"/>
            <a:ext cx="214884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New Feature Creation</a:t>
            </a:r>
            <a:endParaRPr lang="en-US" sz="1600" dirty="0"/>
          </a:p>
        </p:txBody>
      </p:sp>
      <p:sp>
        <p:nvSpPr>
          <p:cNvPr id="43" name="Text 40"/>
          <p:cNvSpPr/>
          <p:nvPr/>
        </p:nvSpPr>
        <p:spPr>
          <a:xfrm>
            <a:off x="8412480" y="3108960"/>
            <a:ext cx="3154680" cy="1828800"/>
          </a:xfrm>
          <a:prstGeom prst="rect">
            <a:avLst/>
          </a:prstGeom>
          <a:noFill/>
          <a:ln/>
        </p:spPr>
        <p:txBody>
          <a:bodyPr wrap="square" lIns="0" tIns="0" rIns="0" bIns="0" rtlCol="0" anchor="t"/>
          <a:lstStyle/>
          <a:p>
            <a:r>
              <a:rPr lang="en-US" sz="1600" dirty="0"/>
              <a:t>I intentionally chose not to create new features to maintain the clinical integrity of the original UCI dataset, as the existing variables are already recognized as medical "gold standards." Given the small sample size of 303 rows, this decision also prevented unnecessary model complexity and reduced the risk of overfitting.</a:t>
            </a:r>
          </a:p>
        </p:txBody>
      </p:sp>
      <p:sp>
        <p:nvSpPr>
          <p:cNvPr id="44" name="Text 41"/>
          <p:cNvSpPr/>
          <p:nvPr/>
        </p:nvSpPr>
        <p:spPr>
          <a:xfrm>
            <a:off x="8412480" y="4937760"/>
            <a:ext cx="3154680" cy="228600"/>
          </a:xfrm>
          <a:prstGeom prst="rect">
            <a:avLst/>
          </a:prstGeom>
          <a:noFill/>
          <a:ln/>
        </p:spPr>
        <p:txBody>
          <a:bodyPr wrap="square" lIns="0" tIns="0" rIns="0" bIns="0" rtlCol="0" anchor="ctr"/>
          <a:lstStyle/>
          <a:p>
            <a:pPr marL="0" indent="0">
              <a:buNone/>
            </a:pPr>
            <a:endParaRPr lang="en-US" sz="900" dirty="0"/>
          </a:p>
        </p:txBody>
      </p:sp>
      <p:sp>
        <p:nvSpPr>
          <p:cNvPr id="46" name="Text 43"/>
          <p:cNvSpPr/>
          <p:nvPr/>
        </p:nvSpPr>
        <p:spPr>
          <a:xfrm>
            <a:off x="8412480" y="5212080"/>
            <a:ext cx="640080" cy="320040"/>
          </a:xfrm>
          <a:prstGeom prst="rect">
            <a:avLst/>
          </a:prstGeom>
          <a:noFill/>
          <a:ln/>
        </p:spPr>
        <p:txBody>
          <a:bodyPr wrap="square" lIns="0" tIns="0" rIns="0" bIns="0" rtlCol="0" anchor="ctr"/>
          <a:lstStyle/>
          <a:p>
            <a:pPr marL="0" indent="0" algn="ctr">
              <a:buNone/>
            </a:pPr>
            <a:endParaRPr lang="en-US" sz="1000" dirty="0"/>
          </a:p>
        </p:txBody>
      </p:sp>
      <p:sp>
        <p:nvSpPr>
          <p:cNvPr id="48" name="Text 45"/>
          <p:cNvSpPr/>
          <p:nvPr/>
        </p:nvSpPr>
        <p:spPr>
          <a:xfrm>
            <a:off x="9144000" y="5212080"/>
            <a:ext cx="941832" cy="320040"/>
          </a:xfrm>
          <a:prstGeom prst="rect">
            <a:avLst/>
          </a:prstGeom>
          <a:noFill/>
          <a:ln/>
        </p:spPr>
        <p:txBody>
          <a:bodyPr wrap="square" lIns="0" tIns="0" rIns="0" bIns="0" rtlCol="0" anchor="ctr"/>
          <a:lstStyle/>
          <a:p>
            <a:pPr marL="0" indent="0" algn="ctr">
              <a:buNone/>
            </a:pPr>
            <a:endParaRPr lang="en-US" sz="1000" dirty="0"/>
          </a:p>
        </p:txBody>
      </p:sp>
      <p:sp>
        <p:nvSpPr>
          <p:cNvPr id="50" name="Text 47"/>
          <p:cNvSpPr/>
          <p:nvPr/>
        </p:nvSpPr>
        <p:spPr>
          <a:xfrm>
            <a:off x="10177272" y="5212080"/>
            <a:ext cx="1243584" cy="320040"/>
          </a:xfrm>
          <a:prstGeom prst="rect">
            <a:avLst/>
          </a:prstGeom>
          <a:noFill/>
          <a:ln/>
        </p:spPr>
        <p:txBody>
          <a:bodyPr wrap="square" lIns="0" tIns="0" rIns="0" bIns="0" rtlCol="0" anchor="ctr"/>
          <a:lstStyle/>
          <a:p>
            <a:pPr marL="0" indent="0" algn="ctr">
              <a:buNone/>
            </a:pPr>
            <a:endParaRPr lang="en-US" sz="1000" dirty="0"/>
          </a:p>
        </p:txBody>
      </p:sp>
      <p:pic>
        <p:nvPicPr>
          <p:cNvPr id="51" name="Image 1" descr="preencoded.png"/>
          <p:cNvPicPr>
            <a:picLocks noChangeAspect="1"/>
          </p:cNvPicPr>
          <p:nvPr/>
        </p:nvPicPr>
        <p:blipFill>
          <a:blip r:embed="rId4"/>
          <a:stretch>
            <a:fillRect/>
          </a:stretch>
        </p:blipFill>
        <p:spPr>
          <a:xfrm>
            <a:off x="4169664" y="3931920"/>
            <a:ext cx="274320" cy="274320"/>
          </a:xfrm>
          <a:prstGeom prst="rect">
            <a:avLst/>
          </a:prstGeom>
        </p:spPr>
      </p:pic>
      <p:pic>
        <p:nvPicPr>
          <p:cNvPr id="52" name="Image 2" descr="preencoded.png"/>
          <p:cNvPicPr>
            <a:picLocks noChangeAspect="1"/>
          </p:cNvPicPr>
          <p:nvPr/>
        </p:nvPicPr>
        <p:blipFill>
          <a:blip r:embed="rId4"/>
          <a:stretch>
            <a:fillRect/>
          </a:stretch>
        </p:blipFill>
        <p:spPr>
          <a:xfrm>
            <a:off x="8010144" y="3931920"/>
            <a:ext cx="274320" cy="274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05 · METHOD</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Model Selection &amp; Method</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algorithm, the reasoning, the tooling</a:t>
            </a:r>
            <a:endParaRPr lang="en-US" sz="1200" dirty="0"/>
          </a:p>
        </p:txBody>
      </p:sp>
      <p:sp>
        <p:nvSpPr>
          <p:cNvPr id="15" name="Shape 12"/>
          <p:cNvSpPr/>
          <p:nvPr/>
        </p:nvSpPr>
        <p:spPr>
          <a:xfrm>
            <a:off x="457200" y="1828800"/>
            <a:ext cx="4754880" cy="4389120"/>
          </a:xfrm>
          <a:prstGeom prst="rect">
            <a:avLst/>
          </a:prstGeom>
          <a:solidFill>
            <a:srgbClr val="001F5B"/>
          </a:solidFill>
          <a:ln w="12700">
            <a:solidFill>
              <a:srgbClr val="001F5B"/>
            </a:solidFill>
            <a:prstDash val="solid"/>
          </a:ln>
          <a:effectLst>
            <a:outerShdw blurRad="177800" dist="50800" dir="5400000" algn="bl" rotWithShape="0">
              <a:srgbClr val="000000">
                <a:alpha val="15000"/>
              </a:srgbClr>
            </a:outerShdw>
          </a:effectLst>
        </p:spPr>
        <p:txBody>
          <a:bodyPr/>
          <a:lstStyle/>
          <a:p>
            <a:endParaRPr lang="en-US"/>
          </a:p>
        </p:txBody>
      </p:sp>
      <p:sp>
        <p:nvSpPr>
          <p:cNvPr id="16" name="Shape 13"/>
          <p:cNvSpPr/>
          <p:nvPr/>
        </p:nvSpPr>
        <p:spPr>
          <a:xfrm>
            <a:off x="457200" y="1828800"/>
            <a:ext cx="731520" cy="73152"/>
          </a:xfrm>
          <a:prstGeom prst="rect">
            <a:avLst/>
          </a:prstGeom>
          <a:solidFill>
            <a:srgbClr val="C8102E"/>
          </a:solidFill>
          <a:ln w="12700">
            <a:solidFill>
              <a:srgbClr val="C8102E"/>
            </a:solidFill>
            <a:prstDash val="solid"/>
          </a:ln>
        </p:spPr>
        <p:txBody>
          <a:bodyPr/>
          <a:lstStyle/>
          <a:p>
            <a:endParaRPr lang="en-US"/>
          </a:p>
        </p:txBody>
      </p:sp>
      <p:sp>
        <p:nvSpPr>
          <p:cNvPr id="17" name="Text 14"/>
          <p:cNvSpPr/>
          <p:nvPr/>
        </p:nvSpPr>
        <p:spPr>
          <a:xfrm>
            <a:off x="731520" y="2011680"/>
            <a:ext cx="4297680" cy="32004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ALGORITHM</a:t>
            </a:r>
            <a:endParaRPr lang="en-US" sz="1100" dirty="0"/>
          </a:p>
        </p:txBody>
      </p:sp>
      <p:sp>
        <p:nvSpPr>
          <p:cNvPr id="18" name="Text 15"/>
          <p:cNvSpPr/>
          <p:nvPr/>
        </p:nvSpPr>
        <p:spPr>
          <a:xfrm>
            <a:off x="731520" y="2423160"/>
            <a:ext cx="4297680" cy="82296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Random Forest</a:t>
            </a:r>
            <a:endParaRPr lang="en-US" sz="3400" dirty="0"/>
          </a:p>
        </p:txBody>
      </p:sp>
      <p:sp>
        <p:nvSpPr>
          <p:cNvPr id="19" name="Text 16"/>
          <p:cNvSpPr/>
          <p:nvPr/>
        </p:nvSpPr>
        <p:spPr>
          <a:xfrm>
            <a:off x="731520" y="3246120"/>
            <a:ext cx="4297680" cy="320040"/>
          </a:xfrm>
          <a:prstGeom prst="rect">
            <a:avLst/>
          </a:prstGeom>
          <a:noFill/>
          <a:ln/>
        </p:spPr>
        <p:txBody>
          <a:bodyPr wrap="square" lIns="0" tIns="0" rIns="0" bIns="0" rtlCol="0" anchor="ctr"/>
          <a:lstStyle/>
          <a:p>
            <a:pPr marL="0" indent="0">
              <a:buNone/>
            </a:pPr>
            <a:endParaRPr lang="en-US" sz="1200" dirty="0"/>
          </a:p>
        </p:txBody>
      </p:sp>
      <p:sp>
        <p:nvSpPr>
          <p:cNvPr id="20" name="Shape 17"/>
          <p:cNvSpPr/>
          <p:nvPr/>
        </p:nvSpPr>
        <p:spPr>
          <a:xfrm>
            <a:off x="731520" y="3749040"/>
            <a:ext cx="4297680" cy="0"/>
          </a:xfrm>
          <a:prstGeom prst="line">
            <a:avLst/>
          </a:prstGeom>
          <a:noFill/>
          <a:ln w="25400">
            <a:solidFill>
              <a:srgbClr val="C8102E"/>
            </a:solidFill>
            <a:prstDash val="solid"/>
          </a:ln>
        </p:spPr>
        <p:txBody>
          <a:bodyPr/>
          <a:lstStyle/>
          <a:p>
            <a:endParaRPr lang="en-US"/>
          </a:p>
        </p:txBody>
      </p:sp>
      <p:sp>
        <p:nvSpPr>
          <p:cNvPr id="21" name="Text 18"/>
          <p:cNvSpPr/>
          <p:nvPr/>
        </p:nvSpPr>
        <p:spPr>
          <a:xfrm>
            <a:off x="731520" y="3931920"/>
            <a:ext cx="429768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FAMILY</a:t>
            </a:r>
            <a:endParaRPr lang="en-US" sz="1000" dirty="0"/>
          </a:p>
        </p:txBody>
      </p:sp>
      <p:sp>
        <p:nvSpPr>
          <p:cNvPr id="22" name="Text 19"/>
          <p:cNvSpPr/>
          <p:nvPr/>
        </p:nvSpPr>
        <p:spPr>
          <a:xfrm>
            <a:off x="731520" y="4206240"/>
            <a:ext cx="429768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Supervised · Ensemble · Tree-based</a:t>
            </a:r>
            <a:endParaRPr lang="en-US" sz="1400" dirty="0"/>
          </a:p>
        </p:txBody>
      </p:sp>
      <p:sp>
        <p:nvSpPr>
          <p:cNvPr id="23" name="Text 20"/>
          <p:cNvSpPr/>
          <p:nvPr/>
        </p:nvSpPr>
        <p:spPr>
          <a:xfrm>
            <a:off x="731520" y="4754880"/>
            <a:ext cx="429768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ALTERNATIVES CONSIDERED</a:t>
            </a:r>
            <a:endParaRPr lang="en-US" sz="1000" dirty="0"/>
          </a:p>
        </p:txBody>
      </p:sp>
      <p:sp>
        <p:nvSpPr>
          <p:cNvPr id="24" name="Text 21"/>
          <p:cNvSpPr/>
          <p:nvPr/>
        </p:nvSpPr>
        <p:spPr>
          <a:xfrm>
            <a:off x="731520" y="5029200"/>
            <a:ext cx="429768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Logistic Regression · Nearest Neighbor · Decision Tree </a:t>
            </a:r>
            <a:endParaRPr lang="en-US" sz="1400" dirty="0"/>
          </a:p>
        </p:txBody>
      </p:sp>
      <p:sp>
        <p:nvSpPr>
          <p:cNvPr id="25" name="Shape 22"/>
          <p:cNvSpPr/>
          <p:nvPr/>
        </p:nvSpPr>
        <p:spPr>
          <a:xfrm>
            <a:off x="5577840" y="1828800"/>
            <a:ext cx="6126480" cy="2103120"/>
          </a:xfrm>
          <a:prstGeom prst="rect">
            <a:avLst/>
          </a:prstGeom>
          <a:solidFill>
            <a:srgbClr val="F7F8FB"/>
          </a:solidFill>
          <a:ln w="9525">
            <a:solidFill>
              <a:srgbClr val="E5E7EB"/>
            </a:solidFill>
            <a:prstDash val="solid"/>
          </a:ln>
        </p:spPr>
        <p:txBody>
          <a:bodyPr/>
          <a:lstStyle/>
          <a:p>
            <a:endParaRPr lang="en-US"/>
          </a:p>
        </p:txBody>
      </p:sp>
      <p:sp>
        <p:nvSpPr>
          <p:cNvPr id="26" name="Shape 23"/>
          <p:cNvSpPr/>
          <p:nvPr/>
        </p:nvSpPr>
        <p:spPr>
          <a:xfrm>
            <a:off x="5577840" y="1828800"/>
            <a:ext cx="91440" cy="2103120"/>
          </a:xfrm>
          <a:prstGeom prst="rect">
            <a:avLst/>
          </a:prstGeom>
          <a:solidFill>
            <a:srgbClr val="C8102E"/>
          </a:solidFill>
          <a:ln w="12700">
            <a:solidFill>
              <a:srgbClr val="C8102E"/>
            </a:solidFill>
            <a:prstDash val="solid"/>
          </a:ln>
        </p:spPr>
        <p:txBody>
          <a:bodyPr/>
          <a:lstStyle/>
          <a:p>
            <a:endParaRPr lang="en-US"/>
          </a:p>
        </p:txBody>
      </p:sp>
      <p:sp>
        <p:nvSpPr>
          <p:cNvPr id="28" name="Text 24"/>
          <p:cNvSpPr/>
          <p:nvPr/>
        </p:nvSpPr>
        <p:spPr>
          <a:xfrm>
            <a:off x="6629400" y="2103120"/>
            <a:ext cx="4937760" cy="457200"/>
          </a:xfrm>
          <a:prstGeom prst="rect">
            <a:avLst/>
          </a:prstGeom>
          <a:noFill/>
          <a:ln/>
        </p:spPr>
        <p:txBody>
          <a:bodyPr wrap="square" lIns="0" tIns="0" rIns="0" bIns="0" rtlCol="0" anchor="ctr"/>
          <a:lstStyle/>
          <a:p>
            <a:pPr marL="0" indent="0">
              <a:buNone/>
            </a:pPr>
            <a:r>
              <a:rPr lang="en-US" sz="1800" b="1" dirty="0">
                <a:solidFill>
                  <a:srgbClr val="001F5B"/>
                </a:solidFill>
                <a:latin typeface="Calibri" pitchFamily="34" charset="0"/>
                <a:ea typeface="Calibri" pitchFamily="34" charset="-122"/>
                <a:cs typeface="Calibri" pitchFamily="34" charset="-120"/>
              </a:rPr>
              <a:t>Why This Choice?</a:t>
            </a:r>
            <a:endParaRPr lang="en-US" sz="1800" dirty="0"/>
          </a:p>
        </p:txBody>
      </p:sp>
      <p:sp>
        <p:nvSpPr>
          <p:cNvPr id="29" name="Text 25"/>
          <p:cNvSpPr/>
          <p:nvPr/>
        </p:nvSpPr>
        <p:spPr>
          <a:xfrm>
            <a:off x="5897880" y="2834640"/>
            <a:ext cx="5486400" cy="1005840"/>
          </a:xfrm>
          <a:prstGeom prst="rect">
            <a:avLst/>
          </a:prstGeom>
          <a:noFill/>
          <a:ln/>
        </p:spPr>
        <p:txBody>
          <a:bodyPr wrap="square" lIns="0" tIns="0" rIns="0" bIns="0" rtlCol="0" anchor="t"/>
          <a:lstStyle/>
          <a:p>
            <a:r>
              <a:rPr lang="en-US" sz="1200" dirty="0"/>
              <a:t>Random Forest because it is a powerful ensemble algorithm that captures non-linear relationships and handles mixed feature types without requiring extensive preprocessing. Additionally, it provides built-in feature importance rankings, which allowed me to validate that the model’s mathematical logic.</a:t>
            </a:r>
          </a:p>
        </p:txBody>
      </p:sp>
      <p:sp>
        <p:nvSpPr>
          <p:cNvPr id="30" name="Shape 26"/>
          <p:cNvSpPr/>
          <p:nvPr/>
        </p:nvSpPr>
        <p:spPr>
          <a:xfrm>
            <a:off x="5640910" y="4167554"/>
            <a:ext cx="6126480" cy="2103120"/>
          </a:xfrm>
          <a:prstGeom prst="rect">
            <a:avLst/>
          </a:prstGeom>
          <a:solidFill>
            <a:srgbClr val="F7F8FB"/>
          </a:solidFill>
          <a:ln w="9525">
            <a:solidFill>
              <a:srgbClr val="E5E7EB"/>
            </a:solidFill>
            <a:prstDash val="solid"/>
          </a:ln>
        </p:spPr>
        <p:txBody>
          <a:bodyPr/>
          <a:lstStyle/>
          <a:p>
            <a:endParaRPr lang="en-US"/>
          </a:p>
        </p:txBody>
      </p:sp>
      <p:sp>
        <p:nvSpPr>
          <p:cNvPr id="31" name="Shape 27"/>
          <p:cNvSpPr/>
          <p:nvPr/>
        </p:nvSpPr>
        <p:spPr>
          <a:xfrm>
            <a:off x="5577840" y="4114800"/>
            <a:ext cx="91440" cy="2103120"/>
          </a:xfrm>
          <a:prstGeom prst="rect">
            <a:avLst/>
          </a:prstGeom>
          <a:solidFill>
            <a:srgbClr val="C8102E"/>
          </a:solidFill>
          <a:ln w="12700">
            <a:solidFill>
              <a:srgbClr val="C8102E"/>
            </a:solidFill>
            <a:prstDash val="solid"/>
          </a:ln>
        </p:spPr>
        <p:txBody>
          <a:bodyPr/>
          <a:lstStyle/>
          <a:p>
            <a:endParaRPr lang="en-US"/>
          </a:p>
        </p:txBody>
      </p:sp>
      <p:pic>
        <p:nvPicPr>
          <p:cNvPr id="32" name="Image 2" descr="preencoded.png"/>
          <p:cNvPicPr>
            <a:picLocks noChangeAspect="1"/>
          </p:cNvPicPr>
          <p:nvPr/>
        </p:nvPicPr>
        <p:blipFill>
          <a:blip r:embed="rId4"/>
          <a:stretch>
            <a:fillRect/>
          </a:stretch>
        </p:blipFill>
        <p:spPr>
          <a:xfrm>
            <a:off x="5897880" y="4434840"/>
            <a:ext cx="548640" cy="548640"/>
          </a:xfrm>
          <a:prstGeom prst="rect">
            <a:avLst/>
          </a:prstGeom>
        </p:spPr>
      </p:pic>
      <p:sp>
        <p:nvSpPr>
          <p:cNvPr id="33" name="Text 28"/>
          <p:cNvSpPr/>
          <p:nvPr/>
        </p:nvSpPr>
        <p:spPr>
          <a:xfrm>
            <a:off x="6629400" y="4389120"/>
            <a:ext cx="4937760" cy="457200"/>
          </a:xfrm>
          <a:prstGeom prst="rect">
            <a:avLst/>
          </a:prstGeom>
          <a:noFill/>
          <a:ln/>
        </p:spPr>
        <p:txBody>
          <a:bodyPr wrap="square" lIns="0" tIns="0" rIns="0" bIns="0" rtlCol="0" anchor="ctr"/>
          <a:lstStyle/>
          <a:p>
            <a:pPr marL="0" indent="0">
              <a:buNone/>
            </a:pPr>
            <a:r>
              <a:rPr lang="en-US" sz="1800" b="1" dirty="0">
                <a:solidFill>
                  <a:srgbClr val="001F5B"/>
                </a:solidFill>
                <a:latin typeface="Calibri" pitchFamily="34" charset="0"/>
                <a:ea typeface="Calibri" pitchFamily="34" charset="-122"/>
                <a:cs typeface="Calibri" pitchFamily="34" charset="-120"/>
              </a:rPr>
              <a:t>Tools &amp; Libraries</a:t>
            </a:r>
            <a:endParaRPr lang="en-US" sz="1800" dirty="0"/>
          </a:p>
        </p:txBody>
      </p:sp>
      <p:sp>
        <p:nvSpPr>
          <p:cNvPr id="34" name="Shape 29"/>
          <p:cNvSpPr/>
          <p:nvPr/>
        </p:nvSpPr>
        <p:spPr>
          <a:xfrm>
            <a:off x="5897880" y="5257800"/>
            <a:ext cx="1060704"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35" name="Text 30"/>
          <p:cNvSpPr/>
          <p:nvPr/>
        </p:nvSpPr>
        <p:spPr>
          <a:xfrm>
            <a:off x="5897880" y="5257800"/>
            <a:ext cx="1060704"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PyCaret</a:t>
            </a:r>
            <a:endParaRPr lang="en-US" sz="1100" dirty="0"/>
          </a:p>
        </p:txBody>
      </p:sp>
      <p:sp>
        <p:nvSpPr>
          <p:cNvPr id="36" name="Shape 31"/>
          <p:cNvSpPr/>
          <p:nvPr/>
        </p:nvSpPr>
        <p:spPr>
          <a:xfrm>
            <a:off x="7068312" y="5257800"/>
            <a:ext cx="1655064"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37" name="Text 32"/>
          <p:cNvSpPr/>
          <p:nvPr/>
        </p:nvSpPr>
        <p:spPr>
          <a:xfrm>
            <a:off x="7068312" y="5257800"/>
            <a:ext cx="1655064"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scikit-learn</a:t>
            </a:r>
            <a:endParaRPr lang="en-US" sz="1100" dirty="0"/>
          </a:p>
        </p:txBody>
      </p:sp>
      <p:sp>
        <p:nvSpPr>
          <p:cNvPr id="38" name="Shape 33"/>
          <p:cNvSpPr/>
          <p:nvPr/>
        </p:nvSpPr>
        <p:spPr>
          <a:xfrm>
            <a:off x="8833104" y="5257800"/>
            <a:ext cx="941832"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39" name="Text 34"/>
          <p:cNvSpPr/>
          <p:nvPr/>
        </p:nvSpPr>
        <p:spPr>
          <a:xfrm>
            <a:off x="8833104" y="5257800"/>
            <a:ext cx="941832"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pandas</a:t>
            </a:r>
            <a:endParaRPr lang="en-US" sz="1100" dirty="0"/>
          </a:p>
        </p:txBody>
      </p:sp>
      <p:sp>
        <p:nvSpPr>
          <p:cNvPr id="40" name="Shape 35"/>
          <p:cNvSpPr/>
          <p:nvPr/>
        </p:nvSpPr>
        <p:spPr>
          <a:xfrm>
            <a:off x="9884664" y="5257800"/>
            <a:ext cx="1417320"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41" name="Text 36"/>
          <p:cNvSpPr/>
          <p:nvPr/>
        </p:nvSpPr>
        <p:spPr>
          <a:xfrm>
            <a:off x="9884664" y="5257800"/>
            <a:ext cx="1417320" cy="411480"/>
          </a:xfrm>
          <a:prstGeom prst="rect">
            <a:avLst/>
          </a:prstGeom>
          <a:noFill/>
          <a:ln/>
        </p:spPr>
        <p:txBody>
          <a:bodyPr wrap="square" lIns="0" tIns="0" rIns="0" bIns="0" rtlCol="0" anchor="ctr"/>
          <a:lstStyle/>
          <a:p>
            <a:pPr marL="0" indent="0" algn="ctr">
              <a:buNone/>
            </a:pPr>
            <a:r>
              <a:rPr lang="en-US" sz="1100" b="1" dirty="0">
                <a:solidFill>
                  <a:srgbClr val="001F5B"/>
                </a:solidFill>
                <a:latin typeface="Consolas" pitchFamily="34" charset="0"/>
                <a:ea typeface="Consolas" pitchFamily="34" charset="-122"/>
                <a:cs typeface="Consolas" pitchFamily="34" charset="-120"/>
              </a:rPr>
              <a:t>matplotlib</a:t>
            </a:r>
            <a:endParaRPr lang="en-US" sz="1100" dirty="0"/>
          </a:p>
        </p:txBody>
      </p:sp>
      <p:sp>
        <p:nvSpPr>
          <p:cNvPr id="42" name="Shape 37"/>
          <p:cNvSpPr/>
          <p:nvPr/>
        </p:nvSpPr>
        <p:spPr>
          <a:xfrm>
            <a:off x="5904210" y="5764237"/>
            <a:ext cx="704088" cy="411480"/>
          </a:xfrm>
          <a:prstGeom prst="roundRect">
            <a:avLst>
              <a:gd name="adj" fmla="val 22222"/>
            </a:avLst>
          </a:prstGeom>
          <a:solidFill>
            <a:srgbClr val="FFFFFF"/>
          </a:solidFill>
          <a:ln w="12700">
            <a:solidFill>
              <a:srgbClr val="001F5B"/>
            </a:solidFill>
            <a:prstDash val="solid"/>
          </a:ln>
        </p:spPr>
        <p:txBody>
          <a:bodyPr/>
          <a:lstStyle/>
          <a:p>
            <a:endParaRPr lang="en-US"/>
          </a:p>
        </p:txBody>
      </p:sp>
      <p:sp>
        <p:nvSpPr>
          <p:cNvPr id="43" name="Text 38"/>
          <p:cNvSpPr/>
          <p:nvPr/>
        </p:nvSpPr>
        <p:spPr>
          <a:xfrm>
            <a:off x="5897880" y="5764237"/>
            <a:ext cx="704088" cy="411480"/>
          </a:xfrm>
          <a:prstGeom prst="rect">
            <a:avLst/>
          </a:prstGeom>
          <a:noFill/>
          <a:ln/>
        </p:spPr>
        <p:txBody>
          <a:bodyPr wrap="square" lIns="0" tIns="0" rIns="0" bIns="0" rtlCol="0" anchor="ctr"/>
          <a:lstStyle/>
          <a:p>
            <a:pPr marL="0" indent="0" algn="ctr">
              <a:buNone/>
            </a:pPr>
            <a:r>
              <a:rPr lang="en-US" sz="1100" b="1" dirty="0" err="1">
                <a:solidFill>
                  <a:srgbClr val="001F5B"/>
                </a:solidFill>
                <a:latin typeface="Consolas" pitchFamily="34" charset="0"/>
              </a:rPr>
              <a:t>AutoViz</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06 · EVALUATION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Model Evaluation &amp; Tuning</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How well it works — and how you made it better</a:t>
            </a:r>
            <a:endParaRPr lang="en-US" sz="1200" dirty="0"/>
          </a:p>
        </p:txBody>
      </p:sp>
      <p:sp>
        <p:nvSpPr>
          <p:cNvPr id="15" name="Shape 12"/>
          <p:cNvSpPr/>
          <p:nvPr/>
        </p:nvSpPr>
        <p:spPr>
          <a:xfrm>
            <a:off x="457200" y="182880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6" name="Shape 13"/>
          <p:cNvSpPr/>
          <p:nvPr/>
        </p:nvSpPr>
        <p:spPr>
          <a:xfrm>
            <a:off x="457200" y="1828800"/>
            <a:ext cx="2377440" cy="91440"/>
          </a:xfrm>
          <a:prstGeom prst="rect">
            <a:avLst/>
          </a:prstGeom>
          <a:solidFill>
            <a:srgbClr val="C8102E"/>
          </a:solidFill>
          <a:ln w="12700">
            <a:solidFill>
              <a:srgbClr val="C8102E"/>
            </a:solidFill>
            <a:prstDash val="solid"/>
          </a:ln>
        </p:spPr>
        <p:txBody>
          <a:bodyPr/>
          <a:lstStyle/>
          <a:p>
            <a:endParaRPr lang="en-US"/>
          </a:p>
        </p:txBody>
      </p:sp>
      <p:sp>
        <p:nvSpPr>
          <p:cNvPr id="17" name="Text 14"/>
          <p:cNvSpPr/>
          <p:nvPr/>
        </p:nvSpPr>
        <p:spPr>
          <a:xfrm>
            <a:off x="457200" y="201168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0.918</a:t>
            </a:r>
            <a:endParaRPr lang="en-US" sz="4400" dirty="0"/>
          </a:p>
        </p:txBody>
      </p:sp>
      <p:sp>
        <p:nvSpPr>
          <p:cNvPr id="18" name="Text 15"/>
          <p:cNvSpPr/>
          <p:nvPr/>
        </p:nvSpPr>
        <p:spPr>
          <a:xfrm>
            <a:off x="457200" y="292608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ACCURACY</a:t>
            </a:r>
            <a:endParaRPr lang="en-US" sz="1200" dirty="0"/>
          </a:p>
        </p:txBody>
      </p:sp>
      <p:sp>
        <p:nvSpPr>
          <p:cNvPr id="19" name="Text 16"/>
          <p:cNvSpPr/>
          <p:nvPr/>
        </p:nvSpPr>
        <p:spPr>
          <a:xfrm>
            <a:off x="594360" y="324612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Overall correctness</a:t>
            </a:r>
            <a:endParaRPr lang="en-US" sz="1000" dirty="0"/>
          </a:p>
        </p:txBody>
      </p:sp>
      <p:sp>
        <p:nvSpPr>
          <p:cNvPr id="20" name="Shape 17"/>
          <p:cNvSpPr/>
          <p:nvPr/>
        </p:nvSpPr>
        <p:spPr>
          <a:xfrm>
            <a:off x="2971800" y="182880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1" name="Shape 18"/>
          <p:cNvSpPr/>
          <p:nvPr/>
        </p:nvSpPr>
        <p:spPr>
          <a:xfrm>
            <a:off x="2971800" y="1828800"/>
            <a:ext cx="2377440" cy="91440"/>
          </a:xfrm>
          <a:prstGeom prst="rect">
            <a:avLst/>
          </a:prstGeom>
          <a:solidFill>
            <a:srgbClr val="C8102E"/>
          </a:solidFill>
          <a:ln w="12700">
            <a:solidFill>
              <a:srgbClr val="C8102E"/>
            </a:solidFill>
            <a:prstDash val="solid"/>
          </a:ln>
        </p:spPr>
        <p:txBody>
          <a:bodyPr/>
          <a:lstStyle/>
          <a:p>
            <a:endParaRPr lang="en-US"/>
          </a:p>
        </p:txBody>
      </p:sp>
      <p:sp>
        <p:nvSpPr>
          <p:cNvPr id="22" name="Text 19"/>
          <p:cNvSpPr/>
          <p:nvPr/>
        </p:nvSpPr>
        <p:spPr>
          <a:xfrm>
            <a:off x="2971800" y="201168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0.90</a:t>
            </a:r>
            <a:endParaRPr lang="en-US" sz="4400" dirty="0"/>
          </a:p>
        </p:txBody>
      </p:sp>
      <p:sp>
        <p:nvSpPr>
          <p:cNvPr id="23" name="Text 20"/>
          <p:cNvSpPr/>
          <p:nvPr/>
        </p:nvSpPr>
        <p:spPr>
          <a:xfrm>
            <a:off x="2971800" y="292608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AUC</a:t>
            </a:r>
            <a:endParaRPr lang="en-US" sz="1200" dirty="0"/>
          </a:p>
        </p:txBody>
      </p:sp>
      <p:sp>
        <p:nvSpPr>
          <p:cNvPr id="24" name="Text 21"/>
          <p:cNvSpPr/>
          <p:nvPr/>
        </p:nvSpPr>
        <p:spPr>
          <a:xfrm>
            <a:off x="3108960" y="324612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Ranking quality</a:t>
            </a:r>
            <a:endParaRPr lang="en-US" sz="1000" dirty="0"/>
          </a:p>
        </p:txBody>
      </p:sp>
      <p:sp>
        <p:nvSpPr>
          <p:cNvPr id="25" name="Shape 22"/>
          <p:cNvSpPr/>
          <p:nvPr/>
        </p:nvSpPr>
        <p:spPr>
          <a:xfrm>
            <a:off x="457200" y="379476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6" name="Shape 23"/>
          <p:cNvSpPr/>
          <p:nvPr/>
        </p:nvSpPr>
        <p:spPr>
          <a:xfrm>
            <a:off x="457200" y="3794760"/>
            <a:ext cx="2377440" cy="91440"/>
          </a:xfrm>
          <a:prstGeom prst="rect">
            <a:avLst/>
          </a:prstGeom>
          <a:solidFill>
            <a:srgbClr val="C8102E"/>
          </a:solidFill>
          <a:ln w="12700">
            <a:solidFill>
              <a:srgbClr val="C8102E"/>
            </a:solidFill>
            <a:prstDash val="solid"/>
          </a:ln>
        </p:spPr>
        <p:txBody>
          <a:bodyPr/>
          <a:lstStyle/>
          <a:p>
            <a:endParaRPr lang="en-US"/>
          </a:p>
        </p:txBody>
      </p:sp>
      <p:sp>
        <p:nvSpPr>
          <p:cNvPr id="27" name="Text 24"/>
          <p:cNvSpPr/>
          <p:nvPr/>
        </p:nvSpPr>
        <p:spPr>
          <a:xfrm>
            <a:off x="457200" y="397764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0.92</a:t>
            </a:r>
            <a:endParaRPr lang="en-US" sz="4400" dirty="0"/>
          </a:p>
        </p:txBody>
      </p:sp>
      <p:sp>
        <p:nvSpPr>
          <p:cNvPr id="28" name="Text 25"/>
          <p:cNvSpPr/>
          <p:nvPr/>
        </p:nvSpPr>
        <p:spPr>
          <a:xfrm>
            <a:off x="457200" y="489204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PRECISION</a:t>
            </a:r>
            <a:endParaRPr lang="en-US" sz="1200" dirty="0"/>
          </a:p>
        </p:txBody>
      </p:sp>
      <p:sp>
        <p:nvSpPr>
          <p:cNvPr id="29" name="Text 26"/>
          <p:cNvSpPr/>
          <p:nvPr/>
        </p:nvSpPr>
        <p:spPr>
          <a:xfrm>
            <a:off x="594360" y="521208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Of predicted positives</a:t>
            </a:r>
            <a:endParaRPr lang="en-US" sz="1000" dirty="0"/>
          </a:p>
        </p:txBody>
      </p:sp>
      <p:sp>
        <p:nvSpPr>
          <p:cNvPr id="30" name="Shape 27"/>
          <p:cNvSpPr/>
          <p:nvPr/>
        </p:nvSpPr>
        <p:spPr>
          <a:xfrm>
            <a:off x="2971800" y="3794760"/>
            <a:ext cx="2377440" cy="1828800"/>
          </a:xfrm>
          <a:prstGeom prst="rect">
            <a:avLst/>
          </a:prstGeom>
          <a:solidFill>
            <a:srgbClr val="F7F8FB"/>
          </a:solidFill>
          <a:ln w="9525">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31" name="Shape 28"/>
          <p:cNvSpPr/>
          <p:nvPr/>
        </p:nvSpPr>
        <p:spPr>
          <a:xfrm>
            <a:off x="2971800" y="3794760"/>
            <a:ext cx="2377440" cy="91440"/>
          </a:xfrm>
          <a:prstGeom prst="rect">
            <a:avLst/>
          </a:prstGeom>
          <a:solidFill>
            <a:srgbClr val="C8102E"/>
          </a:solidFill>
          <a:ln w="12700">
            <a:solidFill>
              <a:srgbClr val="C8102E"/>
            </a:solidFill>
            <a:prstDash val="solid"/>
          </a:ln>
        </p:spPr>
        <p:txBody>
          <a:bodyPr/>
          <a:lstStyle/>
          <a:p>
            <a:endParaRPr lang="en-US"/>
          </a:p>
        </p:txBody>
      </p:sp>
      <p:sp>
        <p:nvSpPr>
          <p:cNvPr id="32" name="Text 29"/>
          <p:cNvSpPr/>
          <p:nvPr/>
        </p:nvSpPr>
        <p:spPr>
          <a:xfrm>
            <a:off x="2971800" y="3977640"/>
            <a:ext cx="2377440" cy="914400"/>
          </a:xfrm>
          <a:prstGeom prst="rect">
            <a:avLst/>
          </a:prstGeom>
          <a:noFill/>
          <a:ln/>
        </p:spPr>
        <p:txBody>
          <a:bodyPr wrap="square" lIns="0" tIns="0" rIns="0" bIns="0" rtlCol="0" anchor="ctr"/>
          <a:lstStyle/>
          <a:p>
            <a:pPr marL="0" indent="0" algn="ctr">
              <a:buNone/>
            </a:pPr>
            <a:r>
              <a:rPr lang="en-US" sz="4400" b="1" dirty="0">
                <a:solidFill>
                  <a:srgbClr val="001F5B"/>
                </a:solidFill>
                <a:latin typeface="Georgia" pitchFamily="34" charset="0"/>
                <a:ea typeface="Georgia" pitchFamily="34" charset="-122"/>
                <a:cs typeface="Georgia" pitchFamily="34" charset="-120"/>
              </a:rPr>
              <a:t>0.88</a:t>
            </a:r>
            <a:endParaRPr lang="en-US" sz="4400" dirty="0"/>
          </a:p>
        </p:txBody>
      </p:sp>
      <p:sp>
        <p:nvSpPr>
          <p:cNvPr id="33" name="Text 30"/>
          <p:cNvSpPr/>
          <p:nvPr/>
        </p:nvSpPr>
        <p:spPr>
          <a:xfrm>
            <a:off x="2971800" y="4892040"/>
            <a:ext cx="2377440" cy="292608"/>
          </a:xfrm>
          <a:prstGeom prst="rect">
            <a:avLst/>
          </a:prstGeom>
          <a:noFill/>
          <a:ln/>
        </p:spPr>
        <p:txBody>
          <a:bodyPr wrap="square" lIns="0" tIns="0" rIns="0" bIns="0" rtlCol="0" anchor="ctr"/>
          <a:lstStyle/>
          <a:p>
            <a:pPr marL="0" indent="0" algn="ctr">
              <a:buNone/>
            </a:pPr>
            <a:r>
              <a:rPr lang="en-US" sz="1200" b="1" kern="0" spc="300" dirty="0">
                <a:solidFill>
                  <a:srgbClr val="001F5B"/>
                </a:solidFill>
                <a:latin typeface="Calibri" pitchFamily="34" charset="0"/>
                <a:ea typeface="Calibri" pitchFamily="34" charset="-122"/>
                <a:cs typeface="Calibri" pitchFamily="34" charset="-120"/>
              </a:rPr>
              <a:t>RECALL</a:t>
            </a:r>
            <a:endParaRPr lang="en-US" sz="1200" dirty="0"/>
          </a:p>
        </p:txBody>
      </p:sp>
      <p:sp>
        <p:nvSpPr>
          <p:cNvPr id="34" name="Text 31"/>
          <p:cNvSpPr/>
          <p:nvPr/>
        </p:nvSpPr>
        <p:spPr>
          <a:xfrm>
            <a:off x="3108960" y="5212080"/>
            <a:ext cx="2103120" cy="365760"/>
          </a:xfrm>
          <a:prstGeom prst="rect">
            <a:avLst/>
          </a:prstGeom>
          <a:noFill/>
          <a:ln/>
        </p:spPr>
        <p:txBody>
          <a:bodyPr wrap="square" lIns="0" tIns="0" rIns="0" bIns="0"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Of actual positives</a:t>
            </a:r>
            <a:endParaRPr lang="en-US" sz="1000" dirty="0"/>
          </a:p>
        </p:txBody>
      </p:sp>
      <p:sp>
        <p:nvSpPr>
          <p:cNvPr id="35" name="Shape 32"/>
          <p:cNvSpPr/>
          <p:nvPr/>
        </p:nvSpPr>
        <p:spPr>
          <a:xfrm>
            <a:off x="457200" y="5715000"/>
            <a:ext cx="4892040" cy="777240"/>
          </a:xfrm>
          <a:prstGeom prst="rect">
            <a:avLst/>
          </a:prstGeom>
          <a:solidFill>
            <a:srgbClr val="001F5B"/>
          </a:solidFill>
          <a:ln w="12700">
            <a:solidFill>
              <a:srgbClr val="001F5B"/>
            </a:solidFill>
            <a:prstDash val="solid"/>
          </a:ln>
        </p:spPr>
        <p:txBody>
          <a:bodyPr/>
          <a:lstStyle/>
          <a:p>
            <a:endParaRPr lang="en-US"/>
          </a:p>
        </p:txBody>
      </p:sp>
      <p:sp>
        <p:nvSpPr>
          <p:cNvPr id="36" name="Shape 33"/>
          <p:cNvSpPr/>
          <p:nvPr/>
        </p:nvSpPr>
        <p:spPr>
          <a:xfrm>
            <a:off x="457200" y="5715000"/>
            <a:ext cx="91440" cy="777240"/>
          </a:xfrm>
          <a:prstGeom prst="rect">
            <a:avLst/>
          </a:prstGeom>
          <a:solidFill>
            <a:srgbClr val="C8102E"/>
          </a:solidFill>
          <a:ln w="12700">
            <a:solidFill>
              <a:srgbClr val="C8102E"/>
            </a:solidFill>
            <a:prstDash val="solid"/>
          </a:ln>
        </p:spPr>
        <p:txBody>
          <a:bodyPr/>
          <a:lstStyle/>
          <a:p>
            <a:endParaRPr lang="en-US"/>
          </a:p>
        </p:txBody>
      </p:sp>
      <p:sp>
        <p:nvSpPr>
          <p:cNvPr id="37" name="Text 34"/>
          <p:cNvSpPr/>
          <p:nvPr/>
        </p:nvSpPr>
        <p:spPr>
          <a:xfrm>
            <a:off x="685800" y="5806440"/>
            <a:ext cx="4617720" cy="274320"/>
          </a:xfrm>
          <a:prstGeom prst="rect">
            <a:avLst/>
          </a:prstGeom>
          <a:noFill/>
          <a:ln/>
        </p:spPr>
        <p:txBody>
          <a:bodyPr wrap="square" lIns="0" tIns="0" rIns="0" bIns="0" rtlCol="0" anchor="ctr"/>
          <a:lstStyle/>
          <a:p>
            <a:pPr marL="0" indent="0">
              <a:buNone/>
            </a:pPr>
            <a:r>
              <a:rPr lang="en-US" sz="1000" b="1" kern="0" spc="300" dirty="0">
                <a:solidFill>
                  <a:srgbClr val="A9B8D4"/>
                </a:solidFill>
                <a:latin typeface="Calibri" pitchFamily="34" charset="0"/>
                <a:ea typeface="Calibri" pitchFamily="34" charset="-122"/>
                <a:cs typeface="Calibri" pitchFamily="34" charset="-120"/>
              </a:rPr>
              <a:t>HYPERPARAMETER TUNING</a:t>
            </a:r>
            <a:endParaRPr lang="en-US" sz="1000" dirty="0"/>
          </a:p>
        </p:txBody>
      </p:sp>
      <p:sp>
        <p:nvSpPr>
          <p:cNvPr id="38" name="Text 35"/>
          <p:cNvSpPr/>
          <p:nvPr/>
        </p:nvSpPr>
        <p:spPr>
          <a:xfrm>
            <a:off x="685800" y="6062472"/>
            <a:ext cx="4617720" cy="411480"/>
          </a:xfrm>
          <a:prstGeom prst="rect">
            <a:avLst/>
          </a:prstGeom>
          <a:noFill/>
          <a:ln/>
        </p:spPr>
        <p:txBody>
          <a:bodyPr wrap="square" lIns="0" tIns="0" rIns="0" bIns="0" rtlCol="0" anchor="ctr"/>
          <a:lstStyle/>
          <a:p>
            <a:pPr marL="0" indent="0">
              <a:buNone/>
            </a:pPr>
            <a:endParaRPr lang="en-US" sz="1200" dirty="0"/>
          </a:p>
        </p:txBody>
      </p:sp>
      <p:sp>
        <p:nvSpPr>
          <p:cNvPr id="39" name="Shape 36"/>
          <p:cNvSpPr/>
          <p:nvPr/>
        </p:nvSpPr>
        <p:spPr>
          <a:xfrm>
            <a:off x="5577840" y="1828800"/>
            <a:ext cx="6126480" cy="2148840"/>
          </a:xfrm>
          <a:prstGeom prst="rect">
            <a:avLst/>
          </a:prstGeom>
          <a:solidFill>
            <a:srgbClr val="F7F8FB"/>
          </a:solidFill>
          <a:ln w="19050">
            <a:solidFill>
              <a:srgbClr val="E5E7EB"/>
            </a:solidFill>
            <a:prstDash val="dash"/>
          </a:ln>
        </p:spPr>
        <p:txBody>
          <a:bodyPr/>
          <a:lstStyle/>
          <a:p>
            <a:endParaRPr lang="en-US"/>
          </a:p>
        </p:txBody>
      </p:sp>
      <p:sp>
        <p:nvSpPr>
          <p:cNvPr id="40" name="Shape 37"/>
          <p:cNvSpPr/>
          <p:nvPr/>
        </p:nvSpPr>
        <p:spPr>
          <a:xfrm>
            <a:off x="5577840" y="1828800"/>
            <a:ext cx="731520" cy="73152"/>
          </a:xfrm>
          <a:prstGeom prst="rect">
            <a:avLst/>
          </a:prstGeom>
          <a:solidFill>
            <a:srgbClr val="C8102E"/>
          </a:solidFill>
          <a:ln w="12700">
            <a:solidFill>
              <a:srgbClr val="C8102E"/>
            </a:solidFill>
            <a:prstDash val="solid"/>
          </a:ln>
        </p:spPr>
        <p:txBody>
          <a:bodyPr/>
          <a:lstStyle/>
          <a:p>
            <a:endParaRPr lang="en-US"/>
          </a:p>
        </p:txBody>
      </p:sp>
      <p:pic>
        <p:nvPicPr>
          <p:cNvPr id="41" name="Image 1" descr="preencoded.png"/>
          <p:cNvPicPr>
            <a:picLocks noChangeAspect="1"/>
          </p:cNvPicPr>
          <p:nvPr/>
        </p:nvPicPr>
        <p:blipFill>
          <a:blip r:embed="rId4"/>
          <a:stretch>
            <a:fillRect/>
          </a:stretch>
        </p:blipFill>
        <p:spPr>
          <a:xfrm>
            <a:off x="5897880" y="2103120"/>
            <a:ext cx="457200" cy="457200"/>
          </a:xfrm>
          <a:prstGeom prst="rect">
            <a:avLst/>
          </a:prstGeom>
        </p:spPr>
      </p:pic>
      <p:sp>
        <p:nvSpPr>
          <p:cNvPr id="42" name="Text 38"/>
          <p:cNvSpPr/>
          <p:nvPr/>
        </p:nvSpPr>
        <p:spPr>
          <a:xfrm>
            <a:off x="5577840" y="2857500"/>
            <a:ext cx="6126480" cy="365760"/>
          </a:xfrm>
          <a:prstGeom prst="rect">
            <a:avLst/>
          </a:prstGeom>
          <a:noFill/>
          <a:ln/>
        </p:spPr>
        <p:txBody>
          <a:bodyPr wrap="square" lIns="0" tIns="0" rIns="0" bIns="0" rtlCol="0" anchor="ctr"/>
          <a:lstStyle/>
          <a:p>
            <a:pPr marL="0" indent="0" algn="ctr">
              <a:buNone/>
            </a:pPr>
            <a:r>
              <a:rPr lang="en-US" sz="1400" b="1" dirty="0">
                <a:solidFill>
                  <a:srgbClr val="001F5B"/>
                </a:solidFill>
                <a:latin typeface="Calibri" pitchFamily="34" charset="0"/>
                <a:ea typeface="Calibri" pitchFamily="34" charset="-122"/>
                <a:cs typeface="Calibri" pitchFamily="34" charset="-120"/>
              </a:rPr>
              <a:t>[ Screenshot: Confusion Matrix ]</a:t>
            </a:r>
            <a:endParaRPr lang="en-US" sz="1400" dirty="0"/>
          </a:p>
        </p:txBody>
      </p:sp>
      <p:sp>
        <p:nvSpPr>
          <p:cNvPr id="43" name="Text 39"/>
          <p:cNvSpPr/>
          <p:nvPr/>
        </p:nvSpPr>
        <p:spPr>
          <a:xfrm>
            <a:off x="5577840" y="3520440"/>
            <a:ext cx="6126480" cy="32004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Confusion Matrix</a:t>
            </a:r>
            <a:endParaRPr lang="en-US" sz="1100" dirty="0"/>
          </a:p>
        </p:txBody>
      </p:sp>
      <p:sp>
        <p:nvSpPr>
          <p:cNvPr id="44" name="Shape 40"/>
          <p:cNvSpPr/>
          <p:nvPr/>
        </p:nvSpPr>
        <p:spPr>
          <a:xfrm>
            <a:off x="5577840" y="4114800"/>
            <a:ext cx="6126480" cy="2148840"/>
          </a:xfrm>
          <a:prstGeom prst="rect">
            <a:avLst/>
          </a:prstGeom>
          <a:solidFill>
            <a:srgbClr val="F7F8FB"/>
          </a:solidFill>
          <a:ln w="19050">
            <a:solidFill>
              <a:srgbClr val="E5E7EB"/>
            </a:solidFill>
            <a:prstDash val="dash"/>
          </a:ln>
        </p:spPr>
        <p:txBody>
          <a:bodyPr/>
          <a:lstStyle/>
          <a:p>
            <a:endParaRPr lang="en-US"/>
          </a:p>
        </p:txBody>
      </p:sp>
      <p:sp>
        <p:nvSpPr>
          <p:cNvPr id="45" name="Shape 41"/>
          <p:cNvSpPr/>
          <p:nvPr/>
        </p:nvSpPr>
        <p:spPr>
          <a:xfrm>
            <a:off x="5577840" y="4114800"/>
            <a:ext cx="731520" cy="73152"/>
          </a:xfrm>
          <a:prstGeom prst="rect">
            <a:avLst/>
          </a:prstGeom>
          <a:solidFill>
            <a:srgbClr val="C8102E"/>
          </a:solidFill>
          <a:ln w="12700">
            <a:solidFill>
              <a:srgbClr val="C8102E"/>
            </a:solidFill>
            <a:prstDash val="solid"/>
          </a:ln>
        </p:spPr>
        <p:txBody>
          <a:bodyPr/>
          <a:lstStyle/>
          <a:p>
            <a:endParaRPr lang="en-US"/>
          </a:p>
        </p:txBody>
      </p:sp>
      <p:pic>
        <p:nvPicPr>
          <p:cNvPr id="46" name="Image 2" descr="preencoded.png"/>
          <p:cNvPicPr>
            <a:picLocks noChangeAspect="1"/>
          </p:cNvPicPr>
          <p:nvPr/>
        </p:nvPicPr>
        <p:blipFill>
          <a:blip r:embed="rId4"/>
          <a:stretch>
            <a:fillRect/>
          </a:stretch>
        </p:blipFill>
        <p:spPr>
          <a:xfrm>
            <a:off x="5897880" y="4389120"/>
            <a:ext cx="457200" cy="457200"/>
          </a:xfrm>
          <a:prstGeom prst="rect">
            <a:avLst/>
          </a:prstGeom>
        </p:spPr>
      </p:pic>
      <p:sp>
        <p:nvSpPr>
          <p:cNvPr id="47" name="Text 42"/>
          <p:cNvSpPr/>
          <p:nvPr/>
        </p:nvSpPr>
        <p:spPr>
          <a:xfrm>
            <a:off x="5577840" y="5143500"/>
            <a:ext cx="6126480" cy="365760"/>
          </a:xfrm>
          <a:prstGeom prst="rect">
            <a:avLst/>
          </a:prstGeom>
          <a:noFill/>
          <a:ln/>
        </p:spPr>
        <p:txBody>
          <a:bodyPr wrap="square" lIns="0" tIns="0" rIns="0" bIns="0" rtlCol="0" anchor="ctr"/>
          <a:lstStyle/>
          <a:p>
            <a:pPr marL="0" indent="0" algn="ctr">
              <a:buNone/>
            </a:pPr>
            <a:r>
              <a:rPr lang="en-US" sz="1400" b="1" dirty="0">
                <a:solidFill>
                  <a:srgbClr val="001F5B"/>
                </a:solidFill>
                <a:latin typeface="Calibri" pitchFamily="34" charset="0"/>
                <a:ea typeface="Calibri" pitchFamily="34" charset="-122"/>
                <a:cs typeface="Calibri" pitchFamily="34" charset="-120"/>
              </a:rPr>
              <a:t>[ Screenshot: ROC Curve ]</a:t>
            </a:r>
            <a:endParaRPr lang="en-US" sz="1400" dirty="0"/>
          </a:p>
        </p:txBody>
      </p:sp>
      <p:sp>
        <p:nvSpPr>
          <p:cNvPr id="48" name="Text 43"/>
          <p:cNvSpPr/>
          <p:nvPr/>
        </p:nvSpPr>
        <p:spPr>
          <a:xfrm>
            <a:off x="5577840" y="5806440"/>
            <a:ext cx="6126480" cy="32004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ROC Curve</a:t>
            </a:r>
            <a:endParaRPr lang="en-US" sz="1100" dirty="0"/>
          </a:p>
        </p:txBody>
      </p:sp>
      <p:pic>
        <p:nvPicPr>
          <p:cNvPr id="50" name="Picture 49">
            <a:extLst>
              <a:ext uri="{FF2B5EF4-FFF2-40B4-BE49-F238E27FC236}">
                <a16:creationId xmlns:a16="http://schemas.microsoft.com/office/drawing/2014/main" id="{1C17A597-71D9-3D51-FD51-DEF2857E8968}"/>
              </a:ext>
            </a:extLst>
          </p:cNvPr>
          <p:cNvPicPr>
            <a:picLocks noChangeAspect="1"/>
          </p:cNvPicPr>
          <p:nvPr/>
        </p:nvPicPr>
        <p:blipFill>
          <a:blip r:embed="rId5"/>
          <a:stretch>
            <a:fillRect/>
          </a:stretch>
        </p:blipFill>
        <p:spPr>
          <a:xfrm>
            <a:off x="7314144" y="1120883"/>
            <a:ext cx="3431111" cy="2856757"/>
          </a:xfrm>
          <a:prstGeom prst="rect">
            <a:avLst/>
          </a:prstGeom>
        </p:spPr>
      </p:pic>
      <p:pic>
        <p:nvPicPr>
          <p:cNvPr id="52" name="Picture 51">
            <a:extLst>
              <a:ext uri="{FF2B5EF4-FFF2-40B4-BE49-F238E27FC236}">
                <a16:creationId xmlns:a16="http://schemas.microsoft.com/office/drawing/2014/main" id="{9214A424-D132-EEB2-DE7E-7AE9A3A90D19}"/>
              </a:ext>
            </a:extLst>
          </p:cNvPr>
          <p:cNvPicPr>
            <a:picLocks noChangeAspect="1"/>
          </p:cNvPicPr>
          <p:nvPr/>
        </p:nvPicPr>
        <p:blipFill>
          <a:blip r:embed="rId6"/>
          <a:stretch>
            <a:fillRect/>
          </a:stretch>
        </p:blipFill>
        <p:spPr>
          <a:xfrm>
            <a:off x="7316007" y="3886200"/>
            <a:ext cx="3190812" cy="27117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07 · INTERPRETATION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Feature Importance &amp; Interpretation</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Which features drive the predictions, and what it means</a:t>
            </a:r>
            <a:endParaRPr lang="en-US" sz="1200" dirty="0"/>
          </a:p>
        </p:txBody>
      </p:sp>
      <p:sp>
        <p:nvSpPr>
          <p:cNvPr id="15" name="Text 12"/>
          <p:cNvSpPr/>
          <p:nvPr/>
        </p:nvSpPr>
        <p:spPr>
          <a:xfrm>
            <a:off x="457200" y="1828800"/>
            <a:ext cx="4572000" cy="320040"/>
          </a:xfrm>
          <a:prstGeom prst="rect">
            <a:avLst/>
          </a:prstGeom>
          <a:noFill/>
          <a:ln/>
        </p:spPr>
        <p:txBody>
          <a:bodyPr wrap="square" lIns="0" tIns="0" rIns="0" bIns="0" rtlCol="0" anchor="ctr"/>
          <a:lstStyle/>
          <a:p>
            <a:pPr marL="0" indent="0">
              <a:buNone/>
            </a:pPr>
            <a:r>
              <a:rPr lang="en-US" sz="1100" b="1" kern="0" spc="400" dirty="0">
                <a:solidFill>
                  <a:srgbClr val="C8102E"/>
                </a:solidFill>
                <a:latin typeface="Calibri" pitchFamily="34" charset="0"/>
                <a:ea typeface="Calibri" pitchFamily="34" charset="-122"/>
                <a:cs typeface="Calibri" pitchFamily="34" charset="-120"/>
              </a:rPr>
              <a:t>TOP FEATURES</a:t>
            </a:r>
            <a:endParaRPr lang="en-US" sz="1100" dirty="0"/>
          </a:p>
        </p:txBody>
      </p:sp>
      <p:sp>
        <p:nvSpPr>
          <p:cNvPr id="16" name="Shape 13"/>
          <p:cNvSpPr/>
          <p:nvPr/>
        </p:nvSpPr>
        <p:spPr>
          <a:xfrm>
            <a:off x="457200" y="2377440"/>
            <a:ext cx="457200" cy="457200"/>
          </a:xfrm>
          <a:prstGeom prst="ellipse">
            <a:avLst/>
          </a:prstGeom>
          <a:solidFill>
            <a:srgbClr val="001F5B"/>
          </a:solidFill>
          <a:ln w="12700">
            <a:solidFill>
              <a:srgbClr val="001F5B"/>
            </a:solidFill>
            <a:prstDash val="solid"/>
          </a:ln>
        </p:spPr>
        <p:txBody>
          <a:bodyPr/>
          <a:lstStyle/>
          <a:p>
            <a:endParaRPr lang="en-US"/>
          </a:p>
        </p:txBody>
      </p:sp>
      <p:sp>
        <p:nvSpPr>
          <p:cNvPr id="17" name="Text 14"/>
          <p:cNvSpPr/>
          <p:nvPr/>
        </p:nvSpPr>
        <p:spPr>
          <a:xfrm>
            <a:off x="457200" y="23774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8" name="Text 15"/>
          <p:cNvSpPr/>
          <p:nvPr/>
        </p:nvSpPr>
        <p:spPr>
          <a:xfrm>
            <a:off x="1097280" y="2286000"/>
            <a:ext cx="3931920" cy="320040"/>
          </a:xfrm>
          <a:prstGeom prst="rect">
            <a:avLst/>
          </a:prstGeom>
          <a:noFill/>
          <a:ln/>
        </p:spPr>
        <p:txBody>
          <a:bodyPr wrap="square" lIns="0" tIns="0" rIns="0" bIns="0" rtlCol="0" anchor="ctr"/>
          <a:lstStyle/>
          <a:p>
            <a:pPr marL="0" indent="0">
              <a:buNone/>
            </a:pPr>
            <a:r>
              <a:rPr lang="en-US" sz="1300" b="1" dirty="0">
                <a:solidFill>
                  <a:srgbClr val="001F5B"/>
                </a:solidFill>
                <a:latin typeface="Consolas" pitchFamily="34" charset="0"/>
                <a:ea typeface="Consolas" pitchFamily="34" charset="-122"/>
                <a:cs typeface="Consolas" pitchFamily="34" charset="-120"/>
              </a:rPr>
              <a:t>Cat_thal_3.0</a:t>
            </a:r>
            <a:endParaRPr lang="en-US" sz="1300" dirty="0"/>
          </a:p>
        </p:txBody>
      </p:sp>
      <p:sp>
        <p:nvSpPr>
          <p:cNvPr id="19" name="Shape 16"/>
          <p:cNvSpPr/>
          <p:nvPr/>
        </p:nvSpPr>
        <p:spPr>
          <a:xfrm>
            <a:off x="1097280" y="2651760"/>
            <a:ext cx="3931920" cy="164592"/>
          </a:xfrm>
          <a:prstGeom prst="rect">
            <a:avLst/>
          </a:prstGeom>
          <a:solidFill>
            <a:srgbClr val="E5E7EB"/>
          </a:solidFill>
          <a:ln w="12700">
            <a:solidFill>
              <a:srgbClr val="E5E7EB"/>
            </a:solidFill>
            <a:prstDash val="solid"/>
          </a:ln>
        </p:spPr>
        <p:txBody>
          <a:bodyPr/>
          <a:lstStyle/>
          <a:p>
            <a:endParaRPr lang="en-US"/>
          </a:p>
        </p:txBody>
      </p:sp>
      <p:sp>
        <p:nvSpPr>
          <p:cNvPr id="20" name="Shape 17"/>
          <p:cNvSpPr/>
          <p:nvPr/>
        </p:nvSpPr>
        <p:spPr>
          <a:xfrm>
            <a:off x="1097280" y="2651760"/>
            <a:ext cx="3342132" cy="164592"/>
          </a:xfrm>
          <a:prstGeom prst="rect">
            <a:avLst/>
          </a:prstGeom>
          <a:solidFill>
            <a:srgbClr val="C8102E"/>
          </a:solidFill>
          <a:ln w="12700">
            <a:solidFill>
              <a:srgbClr val="C8102E"/>
            </a:solidFill>
            <a:prstDash val="solid"/>
          </a:ln>
        </p:spPr>
        <p:txBody>
          <a:bodyPr/>
          <a:lstStyle/>
          <a:p>
            <a:endParaRPr lang="en-US"/>
          </a:p>
        </p:txBody>
      </p:sp>
      <p:sp>
        <p:nvSpPr>
          <p:cNvPr id="21" name="Shape 18"/>
          <p:cNvSpPr/>
          <p:nvPr/>
        </p:nvSpPr>
        <p:spPr>
          <a:xfrm>
            <a:off x="457200" y="3108960"/>
            <a:ext cx="457200" cy="457200"/>
          </a:xfrm>
          <a:prstGeom prst="ellipse">
            <a:avLst/>
          </a:prstGeom>
          <a:solidFill>
            <a:srgbClr val="001F5B"/>
          </a:solidFill>
          <a:ln w="12700">
            <a:solidFill>
              <a:srgbClr val="001F5B"/>
            </a:solidFill>
            <a:prstDash val="solid"/>
          </a:ln>
        </p:spPr>
        <p:txBody>
          <a:bodyPr/>
          <a:lstStyle/>
          <a:p>
            <a:endParaRPr lang="en-US"/>
          </a:p>
        </p:txBody>
      </p:sp>
      <p:sp>
        <p:nvSpPr>
          <p:cNvPr id="22" name="Text 19"/>
          <p:cNvSpPr/>
          <p:nvPr/>
        </p:nvSpPr>
        <p:spPr>
          <a:xfrm>
            <a:off x="457200" y="31089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23" name="Text 20"/>
          <p:cNvSpPr/>
          <p:nvPr/>
        </p:nvSpPr>
        <p:spPr>
          <a:xfrm>
            <a:off x="1097280" y="3017520"/>
            <a:ext cx="3931920" cy="320040"/>
          </a:xfrm>
          <a:prstGeom prst="rect">
            <a:avLst/>
          </a:prstGeom>
          <a:noFill/>
          <a:ln/>
        </p:spPr>
        <p:txBody>
          <a:bodyPr wrap="square" lIns="0" tIns="0" rIns="0" bIns="0" rtlCol="0" anchor="ctr"/>
          <a:lstStyle/>
          <a:p>
            <a:pPr marL="0" indent="0">
              <a:buNone/>
            </a:pPr>
            <a:r>
              <a:rPr lang="en-US" sz="1300" b="1" dirty="0" err="1">
                <a:solidFill>
                  <a:srgbClr val="001F5B"/>
                </a:solidFill>
                <a:latin typeface="Consolas" pitchFamily="34" charset="0"/>
                <a:ea typeface="Consolas" pitchFamily="34" charset="-122"/>
                <a:cs typeface="Consolas" pitchFamily="34" charset="-120"/>
              </a:rPr>
              <a:t>Num_thalach</a:t>
            </a:r>
            <a:endParaRPr lang="en-US" sz="1300" dirty="0"/>
          </a:p>
        </p:txBody>
      </p:sp>
      <p:sp>
        <p:nvSpPr>
          <p:cNvPr id="24" name="Shape 21"/>
          <p:cNvSpPr/>
          <p:nvPr/>
        </p:nvSpPr>
        <p:spPr>
          <a:xfrm>
            <a:off x="1097280" y="3383280"/>
            <a:ext cx="3931920" cy="164592"/>
          </a:xfrm>
          <a:prstGeom prst="rect">
            <a:avLst/>
          </a:prstGeom>
          <a:solidFill>
            <a:srgbClr val="E5E7EB"/>
          </a:solidFill>
          <a:ln w="12700">
            <a:solidFill>
              <a:srgbClr val="E5E7EB"/>
            </a:solidFill>
            <a:prstDash val="solid"/>
          </a:ln>
        </p:spPr>
        <p:txBody>
          <a:bodyPr/>
          <a:lstStyle/>
          <a:p>
            <a:endParaRPr lang="en-US"/>
          </a:p>
        </p:txBody>
      </p:sp>
      <p:sp>
        <p:nvSpPr>
          <p:cNvPr id="25" name="Shape 22"/>
          <p:cNvSpPr/>
          <p:nvPr/>
        </p:nvSpPr>
        <p:spPr>
          <a:xfrm>
            <a:off x="1097280" y="3383280"/>
            <a:ext cx="2437790" cy="164592"/>
          </a:xfrm>
          <a:prstGeom prst="rect">
            <a:avLst/>
          </a:prstGeom>
          <a:solidFill>
            <a:srgbClr val="C8102E"/>
          </a:solidFill>
          <a:ln w="12700">
            <a:solidFill>
              <a:srgbClr val="C8102E"/>
            </a:solidFill>
            <a:prstDash val="solid"/>
          </a:ln>
        </p:spPr>
        <p:txBody>
          <a:bodyPr/>
          <a:lstStyle/>
          <a:p>
            <a:endParaRPr lang="en-US"/>
          </a:p>
        </p:txBody>
      </p:sp>
      <p:sp>
        <p:nvSpPr>
          <p:cNvPr id="26" name="Shape 23"/>
          <p:cNvSpPr/>
          <p:nvPr/>
        </p:nvSpPr>
        <p:spPr>
          <a:xfrm>
            <a:off x="457200" y="3840480"/>
            <a:ext cx="457200" cy="457200"/>
          </a:xfrm>
          <a:prstGeom prst="ellipse">
            <a:avLst/>
          </a:prstGeom>
          <a:solidFill>
            <a:srgbClr val="001F5B"/>
          </a:solidFill>
          <a:ln w="12700">
            <a:solidFill>
              <a:srgbClr val="001F5B"/>
            </a:solidFill>
            <a:prstDash val="solid"/>
          </a:ln>
        </p:spPr>
        <p:txBody>
          <a:bodyPr/>
          <a:lstStyle/>
          <a:p>
            <a:endParaRPr lang="en-US"/>
          </a:p>
        </p:txBody>
      </p:sp>
      <p:sp>
        <p:nvSpPr>
          <p:cNvPr id="27" name="Text 24"/>
          <p:cNvSpPr/>
          <p:nvPr/>
        </p:nvSpPr>
        <p:spPr>
          <a:xfrm>
            <a:off x="457200" y="384048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8" name="Text 25"/>
          <p:cNvSpPr/>
          <p:nvPr/>
        </p:nvSpPr>
        <p:spPr>
          <a:xfrm>
            <a:off x="1097280" y="3749040"/>
            <a:ext cx="3931920" cy="320040"/>
          </a:xfrm>
          <a:prstGeom prst="rect">
            <a:avLst/>
          </a:prstGeom>
          <a:noFill/>
          <a:ln/>
        </p:spPr>
        <p:txBody>
          <a:bodyPr wrap="square" lIns="0" tIns="0" rIns="0" bIns="0" rtlCol="0" anchor="ctr"/>
          <a:lstStyle/>
          <a:p>
            <a:pPr marL="0" indent="0">
              <a:buNone/>
            </a:pPr>
            <a:r>
              <a:rPr lang="en-US" sz="1300" b="1" dirty="0" err="1">
                <a:solidFill>
                  <a:srgbClr val="001F5B"/>
                </a:solidFill>
                <a:latin typeface="Consolas" pitchFamily="34" charset="0"/>
                <a:ea typeface="Consolas" pitchFamily="34" charset="-122"/>
                <a:cs typeface="Consolas" pitchFamily="34" charset="-120"/>
              </a:rPr>
              <a:t>Num_oldpeak</a:t>
            </a:r>
            <a:endParaRPr lang="en-US" sz="1300" dirty="0"/>
          </a:p>
        </p:txBody>
      </p:sp>
      <p:sp>
        <p:nvSpPr>
          <p:cNvPr id="29" name="Shape 26"/>
          <p:cNvSpPr/>
          <p:nvPr/>
        </p:nvSpPr>
        <p:spPr>
          <a:xfrm>
            <a:off x="1097280" y="4114800"/>
            <a:ext cx="3931920" cy="164592"/>
          </a:xfrm>
          <a:prstGeom prst="rect">
            <a:avLst/>
          </a:prstGeom>
          <a:solidFill>
            <a:srgbClr val="E5E7EB"/>
          </a:solidFill>
          <a:ln w="12700">
            <a:solidFill>
              <a:srgbClr val="E5E7EB"/>
            </a:solidFill>
            <a:prstDash val="solid"/>
          </a:ln>
        </p:spPr>
        <p:txBody>
          <a:bodyPr/>
          <a:lstStyle/>
          <a:p>
            <a:endParaRPr lang="en-US"/>
          </a:p>
        </p:txBody>
      </p:sp>
      <p:sp>
        <p:nvSpPr>
          <p:cNvPr id="30" name="Shape 27"/>
          <p:cNvSpPr/>
          <p:nvPr/>
        </p:nvSpPr>
        <p:spPr>
          <a:xfrm>
            <a:off x="1097280" y="4114800"/>
            <a:ext cx="1887322" cy="164592"/>
          </a:xfrm>
          <a:prstGeom prst="rect">
            <a:avLst/>
          </a:prstGeom>
          <a:solidFill>
            <a:srgbClr val="C8102E"/>
          </a:solidFill>
          <a:ln w="12700">
            <a:solidFill>
              <a:srgbClr val="C8102E"/>
            </a:solidFill>
            <a:prstDash val="solid"/>
          </a:ln>
        </p:spPr>
        <p:txBody>
          <a:bodyPr/>
          <a:lstStyle/>
          <a:p>
            <a:endParaRPr lang="en-US"/>
          </a:p>
        </p:txBody>
      </p:sp>
      <p:sp>
        <p:nvSpPr>
          <p:cNvPr id="31" name="Shape 28"/>
          <p:cNvSpPr/>
          <p:nvPr/>
        </p:nvSpPr>
        <p:spPr>
          <a:xfrm>
            <a:off x="457200" y="4572000"/>
            <a:ext cx="457200" cy="457200"/>
          </a:xfrm>
          <a:prstGeom prst="ellipse">
            <a:avLst/>
          </a:prstGeom>
          <a:solidFill>
            <a:srgbClr val="001F5B"/>
          </a:solidFill>
          <a:ln w="12700">
            <a:solidFill>
              <a:srgbClr val="001F5B"/>
            </a:solidFill>
            <a:prstDash val="solid"/>
          </a:ln>
        </p:spPr>
        <p:txBody>
          <a:bodyPr/>
          <a:lstStyle/>
          <a:p>
            <a:endParaRPr lang="en-US"/>
          </a:p>
        </p:txBody>
      </p:sp>
      <p:sp>
        <p:nvSpPr>
          <p:cNvPr id="32" name="Text 29"/>
          <p:cNvSpPr/>
          <p:nvPr/>
        </p:nvSpPr>
        <p:spPr>
          <a:xfrm>
            <a:off x="457200" y="4572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33" name="Text 30"/>
          <p:cNvSpPr/>
          <p:nvPr/>
        </p:nvSpPr>
        <p:spPr>
          <a:xfrm>
            <a:off x="1097280" y="4480560"/>
            <a:ext cx="3931920" cy="320040"/>
          </a:xfrm>
          <a:prstGeom prst="rect">
            <a:avLst/>
          </a:prstGeom>
          <a:noFill/>
          <a:ln/>
        </p:spPr>
        <p:txBody>
          <a:bodyPr wrap="square" lIns="0" tIns="0" rIns="0" bIns="0" rtlCol="0" anchor="ctr"/>
          <a:lstStyle/>
          <a:p>
            <a:pPr marL="0" indent="0">
              <a:buNone/>
            </a:pPr>
            <a:r>
              <a:rPr lang="en-US" sz="1300" b="1" dirty="0">
                <a:solidFill>
                  <a:srgbClr val="001F5B"/>
                </a:solidFill>
                <a:latin typeface="Consolas" pitchFamily="34" charset="0"/>
                <a:ea typeface="Consolas" pitchFamily="34" charset="-122"/>
                <a:cs typeface="Consolas" pitchFamily="34" charset="-120"/>
              </a:rPr>
              <a:t>Cat_cp_4.0</a:t>
            </a:r>
            <a:endParaRPr lang="en-US" sz="1300" dirty="0"/>
          </a:p>
        </p:txBody>
      </p:sp>
      <p:sp>
        <p:nvSpPr>
          <p:cNvPr id="34" name="Shape 31"/>
          <p:cNvSpPr/>
          <p:nvPr/>
        </p:nvSpPr>
        <p:spPr>
          <a:xfrm>
            <a:off x="1097280" y="4846320"/>
            <a:ext cx="3931920" cy="164592"/>
          </a:xfrm>
          <a:prstGeom prst="rect">
            <a:avLst/>
          </a:prstGeom>
          <a:solidFill>
            <a:srgbClr val="E5E7EB"/>
          </a:solidFill>
          <a:ln w="12700">
            <a:solidFill>
              <a:srgbClr val="E5E7EB"/>
            </a:solidFill>
            <a:prstDash val="solid"/>
          </a:ln>
        </p:spPr>
        <p:txBody>
          <a:bodyPr/>
          <a:lstStyle/>
          <a:p>
            <a:endParaRPr lang="en-US"/>
          </a:p>
        </p:txBody>
      </p:sp>
      <p:sp>
        <p:nvSpPr>
          <p:cNvPr id="35" name="Shape 32"/>
          <p:cNvSpPr/>
          <p:nvPr/>
        </p:nvSpPr>
        <p:spPr>
          <a:xfrm>
            <a:off x="1097280" y="4846320"/>
            <a:ext cx="1336853" cy="164592"/>
          </a:xfrm>
          <a:prstGeom prst="rect">
            <a:avLst/>
          </a:prstGeom>
          <a:solidFill>
            <a:srgbClr val="C8102E"/>
          </a:solidFill>
          <a:ln w="12700">
            <a:solidFill>
              <a:srgbClr val="C8102E"/>
            </a:solidFill>
            <a:prstDash val="solid"/>
          </a:ln>
        </p:spPr>
        <p:txBody>
          <a:bodyPr/>
          <a:lstStyle/>
          <a:p>
            <a:endParaRPr lang="en-US"/>
          </a:p>
        </p:txBody>
      </p:sp>
      <p:sp>
        <p:nvSpPr>
          <p:cNvPr id="36" name="Shape 33"/>
          <p:cNvSpPr/>
          <p:nvPr/>
        </p:nvSpPr>
        <p:spPr>
          <a:xfrm>
            <a:off x="457200" y="5303520"/>
            <a:ext cx="457200" cy="457200"/>
          </a:xfrm>
          <a:prstGeom prst="ellipse">
            <a:avLst/>
          </a:prstGeom>
          <a:solidFill>
            <a:srgbClr val="001F5B"/>
          </a:solidFill>
          <a:ln w="12700">
            <a:solidFill>
              <a:srgbClr val="001F5B"/>
            </a:solidFill>
            <a:prstDash val="solid"/>
          </a:ln>
        </p:spPr>
        <p:txBody>
          <a:bodyPr/>
          <a:lstStyle/>
          <a:p>
            <a:endParaRPr lang="en-US"/>
          </a:p>
        </p:txBody>
      </p:sp>
      <p:sp>
        <p:nvSpPr>
          <p:cNvPr id="37" name="Text 34"/>
          <p:cNvSpPr/>
          <p:nvPr/>
        </p:nvSpPr>
        <p:spPr>
          <a:xfrm>
            <a:off x="457200" y="53035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8" name="Text 35"/>
          <p:cNvSpPr/>
          <p:nvPr/>
        </p:nvSpPr>
        <p:spPr>
          <a:xfrm>
            <a:off x="1097280" y="5212080"/>
            <a:ext cx="3931920" cy="320040"/>
          </a:xfrm>
          <a:prstGeom prst="rect">
            <a:avLst/>
          </a:prstGeom>
          <a:noFill/>
          <a:ln/>
        </p:spPr>
        <p:txBody>
          <a:bodyPr wrap="square" lIns="0" tIns="0" rIns="0" bIns="0" rtlCol="0" anchor="ctr"/>
          <a:lstStyle/>
          <a:p>
            <a:pPr marL="0" indent="0">
              <a:buNone/>
            </a:pPr>
            <a:r>
              <a:rPr lang="en-US" sz="1300" b="1" dirty="0">
                <a:solidFill>
                  <a:srgbClr val="001F5B"/>
                </a:solidFill>
                <a:latin typeface="Consolas" pitchFamily="34" charset="0"/>
                <a:ea typeface="Consolas" pitchFamily="34" charset="-122"/>
                <a:cs typeface="Consolas" pitchFamily="34" charset="-120"/>
              </a:rPr>
              <a:t>Cat_ca_0.0</a:t>
            </a:r>
            <a:endParaRPr lang="en-US" sz="1300" dirty="0"/>
          </a:p>
        </p:txBody>
      </p:sp>
      <p:sp>
        <p:nvSpPr>
          <p:cNvPr id="39" name="Shape 36"/>
          <p:cNvSpPr/>
          <p:nvPr/>
        </p:nvSpPr>
        <p:spPr>
          <a:xfrm>
            <a:off x="1097280" y="5577840"/>
            <a:ext cx="3931920" cy="164592"/>
          </a:xfrm>
          <a:prstGeom prst="rect">
            <a:avLst/>
          </a:prstGeom>
          <a:solidFill>
            <a:srgbClr val="E5E7EB"/>
          </a:solidFill>
          <a:ln w="12700">
            <a:solidFill>
              <a:srgbClr val="E5E7EB"/>
            </a:solidFill>
            <a:prstDash val="solid"/>
          </a:ln>
        </p:spPr>
        <p:txBody>
          <a:bodyPr/>
          <a:lstStyle/>
          <a:p>
            <a:endParaRPr lang="en-US"/>
          </a:p>
        </p:txBody>
      </p:sp>
      <p:sp>
        <p:nvSpPr>
          <p:cNvPr id="40" name="Shape 37"/>
          <p:cNvSpPr/>
          <p:nvPr/>
        </p:nvSpPr>
        <p:spPr>
          <a:xfrm>
            <a:off x="1097280" y="5577840"/>
            <a:ext cx="865022" cy="164592"/>
          </a:xfrm>
          <a:prstGeom prst="rect">
            <a:avLst/>
          </a:prstGeom>
          <a:solidFill>
            <a:srgbClr val="C8102E"/>
          </a:solidFill>
          <a:ln w="12700">
            <a:solidFill>
              <a:srgbClr val="C8102E"/>
            </a:solidFill>
            <a:prstDash val="solid"/>
          </a:ln>
        </p:spPr>
        <p:txBody>
          <a:bodyPr/>
          <a:lstStyle/>
          <a:p>
            <a:endParaRPr lang="en-US"/>
          </a:p>
        </p:txBody>
      </p:sp>
      <p:sp>
        <p:nvSpPr>
          <p:cNvPr id="41" name="Shape 38"/>
          <p:cNvSpPr/>
          <p:nvPr/>
        </p:nvSpPr>
        <p:spPr>
          <a:xfrm>
            <a:off x="5486400" y="1828800"/>
            <a:ext cx="6217920" cy="2834640"/>
          </a:xfrm>
          <a:prstGeom prst="rect">
            <a:avLst/>
          </a:prstGeom>
          <a:solidFill>
            <a:srgbClr val="F7F8FB"/>
          </a:solidFill>
          <a:ln w="19050">
            <a:solidFill>
              <a:srgbClr val="E5E7EB"/>
            </a:solidFill>
            <a:prstDash val="dash"/>
          </a:ln>
        </p:spPr>
        <p:txBody>
          <a:bodyPr/>
          <a:lstStyle/>
          <a:p>
            <a:endParaRPr lang="en-US"/>
          </a:p>
        </p:txBody>
      </p:sp>
      <p:sp>
        <p:nvSpPr>
          <p:cNvPr id="42" name="Shape 39"/>
          <p:cNvSpPr/>
          <p:nvPr/>
        </p:nvSpPr>
        <p:spPr>
          <a:xfrm>
            <a:off x="5486400" y="1828800"/>
            <a:ext cx="914400" cy="91440"/>
          </a:xfrm>
          <a:prstGeom prst="rect">
            <a:avLst/>
          </a:prstGeom>
          <a:solidFill>
            <a:srgbClr val="C8102E"/>
          </a:solidFill>
          <a:ln w="12700">
            <a:solidFill>
              <a:srgbClr val="C8102E"/>
            </a:solidFill>
            <a:prstDash val="solid"/>
          </a:ln>
        </p:spPr>
        <p:txBody>
          <a:bodyPr/>
          <a:lstStyle/>
          <a:p>
            <a:endParaRPr lang="en-US"/>
          </a:p>
        </p:txBody>
      </p:sp>
      <p:pic>
        <p:nvPicPr>
          <p:cNvPr id="43" name="Image 1" descr="preencoded.png"/>
          <p:cNvPicPr>
            <a:picLocks noChangeAspect="1"/>
          </p:cNvPicPr>
          <p:nvPr/>
        </p:nvPicPr>
        <p:blipFill>
          <a:blip r:embed="rId4"/>
          <a:stretch>
            <a:fillRect/>
          </a:stretch>
        </p:blipFill>
        <p:spPr>
          <a:xfrm>
            <a:off x="8275320" y="2606040"/>
            <a:ext cx="640080" cy="640080"/>
          </a:xfrm>
          <a:prstGeom prst="rect">
            <a:avLst/>
          </a:prstGeom>
        </p:spPr>
      </p:pic>
      <p:sp>
        <p:nvSpPr>
          <p:cNvPr id="44" name="Text 40"/>
          <p:cNvSpPr/>
          <p:nvPr/>
        </p:nvSpPr>
        <p:spPr>
          <a:xfrm>
            <a:off x="5486400" y="3383280"/>
            <a:ext cx="6217920" cy="365760"/>
          </a:xfrm>
          <a:prstGeom prst="rect">
            <a:avLst/>
          </a:prstGeom>
          <a:noFill/>
          <a:ln/>
        </p:spPr>
        <p:txBody>
          <a:bodyPr wrap="square" lIns="0" tIns="0" rIns="0" bIns="0" rtlCol="0" anchor="ctr"/>
          <a:lstStyle/>
          <a:p>
            <a:pPr marL="0" indent="0" algn="ctr">
              <a:buNone/>
            </a:pPr>
            <a:r>
              <a:rPr lang="en-US" sz="1400" b="1" dirty="0">
                <a:solidFill>
                  <a:srgbClr val="001F5B"/>
                </a:solidFill>
                <a:latin typeface="Calibri" pitchFamily="34" charset="0"/>
                <a:ea typeface="Calibri" pitchFamily="34" charset="-122"/>
                <a:cs typeface="Calibri" pitchFamily="34" charset="-120"/>
              </a:rPr>
              <a:t>[ Feature importance plot ]</a:t>
            </a:r>
            <a:endParaRPr lang="en-US" sz="1400" dirty="0"/>
          </a:p>
        </p:txBody>
      </p:sp>
      <p:sp>
        <p:nvSpPr>
          <p:cNvPr id="45" name="Shape 41"/>
          <p:cNvSpPr/>
          <p:nvPr/>
        </p:nvSpPr>
        <p:spPr>
          <a:xfrm>
            <a:off x="5486400" y="4892040"/>
            <a:ext cx="6217920" cy="1371600"/>
          </a:xfrm>
          <a:prstGeom prst="rect">
            <a:avLst/>
          </a:prstGeom>
          <a:solidFill>
            <a:srgbClr val="001F5B"/>
          </a:solidFill>
          <a:ln w="12700">
            <a:solidFill>
              <a:srgbClr val="001F5B"/>
            </a:solidFill>
            <a:prstDash val="solid"/>
          </a:ln>
        </p:spPr>
        <p:txBody>
          <a:bodyPr/>
          <a:lstStyle/>
          <a:p>
            <a:endParaRPr lang="en-US"/>
          </a:p>
        </p:txBody>
      </p:sp>
      <p:sp>
        <p:nvSpPr>
          <p:cNvPr id="46" name="Shape 42"/>
          <p:cNvSpPr/>
          <p:nvPr/>
        </p:nvSpPr>
        <p:spPr>
          <a:xfrm>
            <a:off x="5486400" y="4892040"/>
            <a:ext cx="91440" cy="1371600"/>
          </a:xfrm>
          <a:prstGeom prst="rect">
            <a:avLst/>
          </a:prstGeom>
          <a:solidFill>
            <a:srgbClr val="C8102E"/>
          </a:solidFill>
          <a:ln w="12700">
            <a:solidFill>
              <a:srgbClr val="C8102E"/>
            </a:solidFill>
            <a:prstDash val="solid"/>
          </a:ln>
        </p:spPr>
        <p:txBody>
          <a:bodyPr/>
          <a:lstStyle/>
          <a:p>
            <a:endParaRPr lang="en-US"/>
          </a:p>
        </p:txBody>
      </p:sp>
      <p:sp>
        <p:nvSpPr>
          <p:cNvPr id="47" name="Text 43"/>
          <p:cNvSpPr/>
          <p:nvPr/>
        </p:nvSpPr>
        <p:spPr>
          <a:xfrm>
            <a:off x="5760720" y="5029200"/>
            <a:ext cx="576072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INTERPRETATION</a:t>
            </a:r>
            <a:endParaRPr lang="en-US" sz="1100" dirty="0"/>
          </a:p>
        </p:txBody>
      </p:sp>
      <p:sp>
        <p:nvSpPr>
          <p:cNvPr id="48" name="Text 44"/>
          <p:cNvSpPr/>
          <p:nvPr/>
        </p:nvSpPr>
        <p:spPr>
          <a:xfrm>
            <a:off x="5760720" y="5349240"/>
            <a:ext cx="5760720" cy="822960"/>
          </a:xfrm>
          <a:prstGeom prst="rect">
            <a:avLst/>
          </a:prstGeom>
          <a:noFill/>
          <a:ln/>
        </p:spPr>
        <p:txBody>
          <a:bodyPr wrap="square" lIns="0" tIns="0" rIns="0" bIns="0" rtlCol="0" anchor="t"/>
          <a:lstStyle/>
          <a:p>
            <a:r>
              <a:rPr lang="en-US" sz="1200" dirty="0">
                <a:solidFill>
                  <a:schemeClr val="bg1"/>
                </a:solidFill>
                <a:latin typeface="Georgia" panose="02040502050405020303" pitchFamily="18" charset="0"/>
              </a:rPr>
              <a:t>The model’s decision-making is most heavily influenced by Cat_thal_3.0, </a:t>
            </a:r>
            <a:r>
              <a:rPr lang="en-US" sz="1200" dirty="0" err="1">
                <a:solidFill>
                  <a:schemeClr val="bg1"/>
                </a:solidFill>
                <a:latin typeface="Georgia" panose="02040502050405020303" pitchFamily="18" charset="0"/>
              </a:rPr>
              <a:t>Num_thalach</a:t>
            </a:r>
            <a:r>
              <a:rPr lang="en-US" sz="1200" dirty="0">
                <a:solidFill>
                  <a:schemeClr val="bg1"/>
                </a:solidFill>
                <a:latin typeface="Georgia" panose="02040502050405020303" pitchFamily="18" charset="0"/>
              </a:rPr>
              <a:t>, </a:t>
            </a:r>
            <a:r>
              <a:rPr lang="en-US" sz="1200" dirty="0" err="1">
                <a:solidFill>
                  <a:schemeClr val="bg1"/>
                </a:solidFill>
                <a:latin typeface="Georgia" panose="02040502050405020303" pitchFamily="18" charset="0"/>
              </a:rPr>
              <a:t>Num_oldpeak</a:t>
            </a:r>
            <a:r>
              <a:rPr lang="en-US" sz="1200" dirty="0">
                <a:solidFill>
                  <a:schemeClr val="bg1"/>
                </a:solidFill>
                <a:latin typeface="Georgia" panose="02040502050405020303" pitchFamily="18" charset="0"/>
              </a:rPr>
              <a:t>, Cat_cp_4.0, and Cat_ca_0.0. While these align with medical intuition, the project is limited by its 1980s-era data and a significant male-representation bias.</a:t>
            </a:r>
          </a:p>
        </p:txBody>
      </p:sp>
      <p:pic>
        <p:nvPicPr>
          <p:cNvPr id="50" name="Picture 49">
            <a:extLst>
              <a:ext uri="{FF2B5EF4-FFF2-40B4-BE49-F238E27FC236}">
                <a16:creationId xmlns:a16="http://schemas.microsoft.com/office/drawing/2014/main" id="{9C2F9A6E-D1BB-7555-94B7-2C76C75D9F5A}"/>
              </a:ext>
            </a:extLst>
          </p:cNvPr>
          <p:cNvPicPr>
            <a:picLocks noChangeAspect="1"/>
          </p:cNvPicPr>
          <p:nvPr/>
        </p:nvPicPr>
        <p:blipFill>
          <a:blip r:embed="rId5"/>
          <a:stretch>
            <a:fillRect/>
          </a:stretch>
        </p:blipFill>
        <p:spPr>
          <a:xfrm>
            <a:off x="6400800" y="1596023"/>
            <a:ext cx="4730109" cy="32868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08 · REFLECTION</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457200" y="685800"/>
            <a:ext cx="73152" cy="822960"/>
          </a:xfrm>
          <a:prstGeom prst="rect">
            <a:avLst/>
          </a:prstGeom>
          <a:solidFill>
            <a:srgbClr val="C8102E"/>
          </a:solidFill>
          <a:ln w="12700">
            <a:solidFill>
              <a:srgbClr val="C8102E"/>
            </a:solidFill>
            <a:prstDash val="solid"/>
          </a:ln>
        </p:spPr>
        <p:txBody>
          <a:bodyPr/>
          <a:lstStyle/>
          <a:p>
            <a:endParaRPr lang="en-US"/>
          </a:p>
        </p:txBody>
      </p:sp>
      <p:sp>
        <p:nvSpPr>
          <p:cNvPr id="11" name="Shape 9"/>
          <p:cNvSpPr/>
          <p:nvPr/>
        </p:nvSpPr>
        <p:spPr>
          <a:xfrm>
            <a:off x="731520" y="731520"/>
            <a:ext cx="731520" cy="731520"/>
          </a:xfrm>
          <a:prstGeom prst="ellipse">
            <a:avLst/>
          </a:prstGeom>
          <a:solidFill>
            <a:srgbClr val="001F5B"/>
          </a:solidFill>
          <a:ln w="12700">
            <a:solidFill>
              <a:srgbClr val="001F5B"/>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896112" y="896112"/>
            <a:ext cx="402336" cy="402336"/>
          </a:xfrm>
          <a:prstGeom prst="rect">
            <a:avLst/>
          </a:prstGeom>
        </p:spPr>
      </p:pic>
      <p:sp>
        <p:nvSpPr>
          <p:cNvPr id="13" name="Text 10"/>
          <p:cNvSpPr/>
          <p:nvPr/>
        </p:nvSpPr>
        <p:spPr>
          <a:xfrm>
            <a:off x="1645920" y="658368"/>
            <a:ext cx="9601200" cy="548640"/>
          </a:xfrm>
          <a:prstGeom prst="rect">
            <a:avLst/>
          </a:prstGeom>
          <a:noFill/>
          <a:ln/>
        </p:spPr>
        <p:txBody>
          <a:bodyPr wrap="square" lIns="0" tIns="0" rIns="0" bIns="0" rtlCol="0" anchor="ctr"/>
          <a:lstStyle/>
          <a:p>
            <a:pPr marL="0" indent="0">
              <a:buNone/>
            </a:pPr>
            <a:r>
              <a:rPr lang="en-US" sz="3000" b="1" dirty="0">
                <a:solidFill>
                  <a:srgbClr val="001F5B"/>
                </a:solidFill>
                <a:latin typeface="Georgia" pitchFamily="34" charset="0"/>
                <a:ea typeface="Georgia" pitchFamily="34" charset="-122"/>
                <a:cs typeface="Georgia" pitchFamily="34" charset="-120"/>
              </a:rPr>
              <a:t>Limitations &amp; Next Steps</a:t>
            </a:r>
            <a:endParaRPr lang="en-US" sz="3000" dirty="0"/>
          </a:p>
        </p:txBody>
      </p:sp>
      <p:sp>
        <p:nvSpPr>
          <p:cNvPr id="14" name="Text 11"/>
          <p:cNvSpPr/>
          <p:nvPr/>
        </p:nvSpPr>
        <p:spPr>
          <a:xfrm>
            <a:off x="1645920" y="1170432"/>
            <a:ext cx="96012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What’s imperfect, what’s next</a:t>
            </a:r>
            <a:endParaRPr lang="en-US" sz="1200" dirty="0"/>
          </a:p>
        </p:txBody>
      </p:sp>
      <p:sp>
        <p:nvSpPr>
          <p:cNvPr id="15" name="Shape 12"/>
          <p:cNvSpPr/>
          <p:nvPr/>
        </p:nvSpPr>
        <p:spPr>
          <a:xfrm>
            <a:off x="457200" y="1828800"/>
            <a:ext cx="3767328" cy="443484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6" name="Shape 13"/>
          <p:cNvSpPr/>
          <p:nvPr/>
        </p:nvSpPr>
        <p:spPr>
          <a:xfrm>
            <a:off x="457200" y="1828800"/>
            <a:ext cx="3767328" cy="109728"/>
          </a:xfrm>
          <a:prstGeom prst="rect">
            <a:avLst/>
          </a:prstGeom>
          <a:solidFill>
            <a:srgbClr val="001F5B"/>
          </a:solidFill>
          <a:ln w="12700">
            <a:solidFill>
              <a:srgbClr val="001F5B"/>
            </a:solidFill>
            <a:prstDash val="solid"/>
          </a:ln>
        </p:spPr>
        <p:txBody>
          <a:bodyPr/>
          <a:lstStyle/>
          <a:p>
            <a:endParaRPr lang="en-US"/>
          </a:p>
        </p:txBody>
      </p:sp>
      <p:sp>
        <p:nvSpPr>
          <p:cNvPr id="17" name="Shape 14"/>
          <p:cNvSpPr/>
          <p:nvPr/>
        </p:nvSpPr>
        <p:spPr>
          <a:xfrm>
            <a:off x="1792224" y="2240280"/>
            <a:ext cx="1097280" cy="1097280"/>
          </a:xfrm>
          <a:prstGeom prst="ellipse">
            <a:avLst/>
          </a:prstGeom>
          <a:solidFill>
            <a:srgbClr val="001F5B"/>
          </a:solidFill>
          <a:ln w="12700">
            <a:solidFill>
              <a:srgbClr val="001F5B"/>
            </a:solidFill>
            <a:prstDash val="solid"/>
          </a:ln>
        </p:spPr>
        <p:txBody>
          <a:bodyPr/>
          <a:lstStyle/>
          <a:p>
            <a:endParaRPr lang="en-US"/>
          </a:p>
        </p:txBody>
      </p:sp>
      <p:sp>
        <p:nvSpPr>
          <p:cNvPr id="18" name="Shape 15"/>
          <p:cNvSpPr/>
          <p:nvPr/>
        </p:nvSpPr>
        <p:spPr>
          <a:xfrm>
            <a:off x="4361688" y="1828800"/>
            <a:ext cx="3767328" cy="443484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19" name="Shape 16"/>
          <p:cNvSpPr/>
          <p:nvPr/>
        </p:nvSpPr>
        <p:spPr>
          <a:xfrm>
            <a:off x="4361688" y="1828800"/>
            <a:ext cx="3767328" cy="109728"/>
          </a:xfrm>
          <a:prstGeom prst="rect">
            <a:avLst/>
          </a:prstGeom>
          <a:solidFill>
            <a:srgbClr val="C8102E"/>
          </a:solidFill>
          <a:ln w="12700">
            <a:solidFill>
              <a:srgbClr val="C8102E"/>
            </a:solidFill>
            <a:prstDash val="solid"/>
          </a:ln>
        </p:spPr>
        <p:txBody>
          <a:bodyPr/>
          <a:lstStyle/>
          <a:p>
            <a:endParaRPr lang="en-US"/>
          </a:p>
        </p:txBody>
      </p:sp>
      <p:sp>
        <p:nvSpPr>
          <p:cNvPr id="20" name="Shape 17"/>
          <p:cNvSpPr/>
          <p:nvPr/>
        </p:nvSpPr>
        <p:spPr>
          <a:xfrm>
            <a:off x="5696712" y="2240280"/>
            <a:ext cx="1097280" cy="1097280"/>
          </a:xfrm>
          <a:prstGeom prst="ellipse">
            <a:avLst/>
          </a:prstGeom>
          <a:solidFill>
            <a:srgbClr val="C8102E"/>
          </a:solidFill>
          <a:ln w="12700">
            <a:solidFill>
              <a:srgbClr val="C8102E"/>
            </a:solidFill>
            <a:prstDash val="solid"/>
          </a:ln>
        </p:spPr>
        <p:txBody>
          <a:bodyPr/>
          <a:lstStyle/>
          <a:p>
            <a:endParaRPr lang="en-US"/>
          </a:p>
        </p:txBody>
      </p:sp>
      <p:sp>
        <p:nvSpPr>
          <p:cNvPr id="21" name="Shape 18"/>
          <p:cNvSpPr/>
          <p:nvPr/>
        </p:nvSpPr>
        <p:spPr>
          <a:xfrm>
            <a:off x="8266176" y="1828800"/>
            <a:ext cx="3767328" cy="4434840"/>
          </a:xfrm>
          <a:prstGeom prst="rect">
            <a:avLst/>
          </a:prstGeom>
          <a:solidFill>
            <a:srgbClr val="FFFFFF"/>
          </a:solidFill>
          <a:ln w="12700">
            <a:solidFill>
              <a:srgbClr val="E5E7EB"/>
            </a:solidFill>
            <a:prstDash val="solid"/>
          </a:ln>
          <a:effectLst>
            <a:outerShdw blurRad="127000" dist="38100" dir="5400000" algn="bl" rotWithShape="0">
              <a:srgbClr val="000000">
                <a:alpha val="10000"/>
              </a:srgbClr>
            </a:outerShdw>
          </a:effectLst>
        </p:spPr>
        <p:txBody>
          <a:bodyPr/>
          <a:lstStyle/>
          <a:p>
            <a:endParaRPr lang="en-US"/>
          </a:p>
        </p:txBody>
      </p:sp>
      <p:sp>
        <p:nvSpPr>
          <p:cNvPr id="22" name="Shape 19"/>
          <p:cNvSpPr/>
          <p:nvPr/>
        </p:nvSpPr>
        <p:spPr>
          <a:xfrm>
            <a:off x="8266176" y="1828800"/>
            <a:ext cx="3767328" cy="109728"/>
          </a:xfrm>
          <a:prstGeom prst="rect">
            <a:avLst/>
          </a:prstGeom>
          <a:solidFill>
            <a:srgbClr val="001F5B"/>
          </a:solidFill>
          <a:ln w="12700">
            <a:solidFill>
              <a:srgbClr val="001F5B"/>
            </a:solidFill>
            <a:prstDash val="solid"/>
          </a:ln>
        </p:spPr>
        <p:txBody>
          <a:bodyPr/>
          <a:lstStyle/>
          <a:p>
            <a:endParaRPr lang="en-US"/>
          </a:p>
        </p:txBody>
      </p:sp>
      <p:sp>
        <p:nvSpPr>
          <p:cNvPr id="23" name="Shape 20"/>
          <p:cNvSpPr/>
          <p:nvPr/>
        </p:nvSpPr>
        <p:spPr>
          <a:xfrm>
            <a:off x="9601200" y="2240280"/>
            <a:ext cx="1097280" cy="1097280"/>
          </a:xfrm>
          <a:prstGeom prst="ellipse">
            <a:avLst/>
          </a:prstGeom>
          <a:solidFill>
            <a:srgbClr val="001F5B"/>
          </a:solidFill>
          <a:ln w="12700">
            <a:solidFill>
              <a:srgbClr val="001F5B"/>
            </a:solidFill>
            <a:prstDash val="solid"/>
          </a:ln>
        </p:spPr>
        <p:txBody>
          <a:bodyPr/>
          <a:lstStyle/>
          <a:p>
            <a:endParaRPr lang="en-US"/>
          </a:p>
        </p:txBody>
      </p:sp>
      <p:pic>
        <p:nvPicPr>
          <p:cNvPr id="24" name="Image 1" descr="preencoded.png"/>
          <p:cNvPicPr>
            <a:picLocks noChangeAspect="1"/>
          </p:cNvPicPr>
          <p:nvPr/>
        </p:nvPicPr>
        <p:blipFill>
          <a:blip r:embed="rId3"/>
          <a:stretch>
            <a:fillRect/>
          </a:stretch>
        </p:blipFill>
        <p:spPr>
          <a:xfrm>
            <a:off x="2020824" y="2468880"/>
            <a:ext cx="640080" cy="640080"/>
          </a:xfrm>
          <a:prstGeom prst="rect">
            <a:avLst/>
          </a:prstGeom>
        </p:spPr>
      </p:pic>
      <p:pic>
        <p:nvPicPr>
          <p:cNvPr id="25" name="Image 2" descr="preencoded.png"/>
          <p:cNvPicPr>
            <a:picLocks noChangeAspect="1"/>
          </p:cNvPicPr>
          <p:nvPr/>
        </p:nvPicPr>
        <p:blipFill>
          <a:blip r:embed="rId3"/>
          <a:stretch>
            <a:fillRect/>
          </a:stretch>
        </p:blipFill>
        <p:spPr>
          <a:xfrm>
            <a:off x="5925312" y="2468880"/>
            <a:ext cx="640080" cy="640080"/>
          </a:xfrm>
          <a:prstGeom prst="rect">
            <a:avLst/>
          </a:prstGeom>
        </p:spPr>
      </p:pic>
      <p:pic>
        <p:nvPicPr>
          <p:cNvPr id="26" name="Image 3" descr="preencoded.png"/>
          <p:cNvPicPr>
            <a:picLocks noChangeAspect="1"/>
          </p:cNvPicPr>
          <p:nvPr/>
        </p:nvPicPr>
        <p:blipFill>
          <a:blip r:embed="rId4"/>
          <a:stretch>
            <a:fillRect/>
          </a:stretch>
        </p:blipFill>
        <p:spPr>
          <a:xfrm>
            <a:off x="9829800" y="2468880"/>
            <a:ext cx="640080" cy="640080"/>
          </a:xfrm>
          <a:prstGeom prst="rect">
            <a:avLst/>
          </a:prstGeom>
        </p:spPr>
      </p:pic>
      <p:sp>
        <p:nvSpPr>
          <p:cNvPr id="27" name="Text 21"/>
          <p:cNvSpPr/>
          <p:nvPr/>
        </p:nvSpPr>
        <p:spPr>
          <a:xfrm>
            <a:off x="731520" y="3611880"/>
            <a:ext cx="3218688" cy="274320"/>
          </a:xfrm>
          <a:prstGeom prst="rect">
            <a:avLst/>
          </a:prstGeom>
          <a:noFill/>
          <a:ln/>
        </p:spPr>
        <p:txBody>
          <a:bodyPr wrap="square" lIns="0" tIns="0" rIns="0" bIns="0" rtlCol="0" anchor="ctr"/>
          <a:lstStyle/>
          <a:p>
            <a:pPr marL="0" indent="0" algn="ctr">
              <a:buNone/>
            </a:pPr>
            <a:r>
              <a:rPr lang="en-US" sz="1100" b="1" kern="0" spc="400" dirty="0">
                <a:solidFill>
                  <a:srgbClr val="C8102E"/>
                </a:solidFill>
                <a:latin typeface="Calibri" pitchFamily="34" charset="0"/>
                <a:ea typeface="Calibri" pitchFamily="34" charset="-122"/>
                <a:cs typeface="Calibri" pitchFamily="34" charset="-120"/>
              </a:rPr>
              <a:t>LIMITATIONS</a:t>
            </a:r>
            <a:endParaRPr lang="en-US" sz="1100" dirty="0"/>
          </a:p>
        </p:txBody>
      </p:sp>
      <p:sp>
        <p:nvSpPr>
          <p:cNvPr id="28" name="Text 22"/>
          <p:cNvSpPr/>
          <p:nvPr/>
        </p:nvSpPr>
        <p:spPr>
          <a:xfrm>
            <a:off x="731520" y="3931920"/>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ea typeface="Georgia" pitchFamily="34" charset="-122"/>
                <a:cs typeface="Georgia" pitchFamily="34" charset="-120"/>
              </a:rPr>
              <a:t>Model Limitations</a:t>
            </a:r>
            <a:endParaRPr lang="en-US" sz="2000" dirty="0"/>
          </a:p>
        </p:txBody>
      </p:sp>
      <p:sp>
        <p:nvSpPr>
          <p:cNvPr id="29" name="Shape 23"/>
          <p:cNvSpPr/>
          <p:nvPr/>
        </p:nvSpPr>
        <p:spPr>
          <a:xfrm>
            <a:off x="1975104" y="4434840"/>
            <a:ext cx="731520" cy="0"/>
          </a:xfrm>
          <a:prstGeom prst="line">
            <a:avLst/>
          </a:prstGeom>
          <a:noFill/>
          <a:ln w="19050">
            <a:solidFill>
              <a:srgbClr val="C8102E"/>
            </a:solidFill>
            <a:prstDash val="solid"/>
          </a:ln>
        </p:spPr>
        <p:txBody>
          <a:bodyPr/>
          <a:lstStyle/>
          <a:p>
            <a:endParaRPr lang="en-US"/>
          </a:p>
        </p:txBody>
      </p:sp>
      <p:sp>
        <p:nvSpPr>
          <p:cNvPr id="30" name="Text 24"/>
          <p:cNvSpPr/>
          <p:nvPr/>
        </p:nvSpPr>
        <p:spPr>
          <a:xfrm>
            <a:off x="777240" y="4617720"/>
            <a:ext cx="3127248" cy="1554480"/>
          </a:xfrm>
          <a:prstGeom prst="rect">
            <a:avLst/>
          </a:prstGeom>
          <a:noFill/>
          <a:ln/>
        </p:spPr>
        <p:txBody>
          <a:bodyPr wrap="square" lIns="0" tIns="0" rIns="0" bIns="0" rtlCol="0" anchor="t"/>
          <a:lstStyle/>
          <a:p>
            <a:pPr algn="ctr"/>
            <a:r>
              <a:rPr lang="en-US" sz="1200" dirty="0">
                <a:latin typeface="Georgia" panose="02040502050405020303" pitchFamily="18" charset="0"/>
              </a:rPr>
              <a:t>My model primarily struggles with the small sample size of 303 observations, which can lead to instability and overfitting during the training process. Additionally, the historical nature of the data from the 1980s may not fully capture modern diagnostic complexities or reflect the clinical diversity found in contemporary global populations.</a:t>
            </a:r>
          </a:p>
        </p:txBody>
      </p:sp>
      <p:sp>
        <p:nvSpPr>
          <p:cNvPr id="31" name="Text 25"/>
          <p:cNvSpPr/>
          <p:nvPr/>
        </p:nvSpPr>
        <p:spPr>
          <a:xfrm>
            <a:off x="4636008" y="3611880"/>
            <a:ext cx="3218688" cy="274320"/>
          </a:xfrm>
          <a:prstGeom prst="rect">
            <a:avLst/>
          </a:prstGeom>
          <a:noFill/>
          <a:ln/>
        </p:spPr>
        <p:txBody>
          <a:bodyPr wrap="square" lIns="0" tIns="0" rIns="0" bIns="0" rtlCol="0" anchor="ctr"/>
          <a:lstStyle/>
          <a:p>
            <a:pPr marL="0" indent="0" algn="ctr">
              <a:buNone/>
            </a:pPr>
            <a:r>
              <a:rPr lang="en-US" sz="1100" b="1" kern="0" spc="400" dirty="0">
                <a:solidFill>
                  <a:srgbClr val="C8102E"/>
                </a:solidFill>
                <a:latin typeface="Calibri" pitchFamily="34" charset="0"/>
                <a:ea typeface="Calibri" pitchFamily="34" charset="-122"/>
                <a:cs typeface="Calibri" pitchFamily="34" charset="-120"/>
              </a:rPr>
              <a:t>ETHICS &amp; BIAS</a:t>
            </a:r>
            <a:endParaRPr lang="en-US" sz="1100" dirty="0"/>
          </a:p>
        </p:txBody>
      </p:sp>
      <p:sp>
        <p:nvSpPr>
          <p:cNvPr id="32" name="Text 26"/>
          <p:cNvSpPr/>
          <p:nvPr/>
        </p:nvSpPr>
        <p:spPr>
          <a:xfrm>
            <a:off x="4636008" y="3931920"/>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ea typeface="Georgia" pitchFamily="34" charset="-122"/>
                <a:cs typeface="Georgia" pitchFamily="34" charset="-120"/>
              </a:rPr>
              <a:t>Data Issues &amp; Bias</a:t>
            </a:r>
            <a:endParaRPr lang="en-US" sz="2000" dirty="0"/>
          </a:p>
        </p:txBody>
      </p:sp>
      <p:sp>
        <p:nvSpPr>
          <p:cNvPr id="33" name="Shape 27"/>
          <p:cNvSpPr/>
          <p:nvPr/>
        </p:nvSpPr>
        <p:spPr>
          <a:xfrm>
            <a:off x="5879592" y="4434840"/>
            <a:ext cx="731520" cy="0"/>
          </a:xfrm>
          <a:prstGeom prst="line">
            <a:avLst/>
          </a:prstGeom>
          <a:noFill/>
          <a:ln w="19050">
            <a:solidFill>
              <a:srgbClr val="C8102E"/>
            </a:solidFill>
            <a:prstDash val="solid"/>
          </a:ln>
        </p:spPr>
        <p:txBody>
          <a:bodyPr/>
          <a:lstStyle/>
          <a:p>
            <a:endParaRPr lang="en-US"/>
          </a:p>
        </p:txBody>
      </p:sp>
      <p:sp>
        <p:nvSpPr>
          <p:cNvPr id="34" name="Text 28"/>
          <p:cNvSpPr/>
          <p:nvPr/>
        </p:nvSpPr>
        <p:spPr>
          <a:xfrm>
            <a:off x="4681728" y="4617720"/>
            <a:ext cx="3127248" cy="1554480"/>
          </a:xfrm>
          <a:prstGeom prst="rect">
            <a:avLst/>
          </a:prstGeom>
          <a:noFill/>
          <a:ln/>
        </p:spPr>
        <p:txBody>
          <a:bodyPr wrap="square" lIns="0" tIns="0" rIns="0" bIns="0" rtlCol="0" anchor="t"/>
          <a:lstStyle/>
          <a:p>
            <a:pPr algn="ctr"/>
            <a:r>
              <a:rPr lang="en-US" sz="1050" dirty="0"/>
              <a:t>This dataset has significant representation problems, particularly regarding gender and geographic diversity. Males are disproportionately represented compared to females, which could lead the model to develop a bias that makes it less accurate for women. Furthermore, because the data was collected in the 1980s from specific locations in the U.S. and Europe, it lacks the ethnic and modern demographic variety needed to generalize the results to a diverse, global population today.</a:t>
            </a:r>
          </a:p>
        </p:txBody>
      </p:sp>
      <p:sp>
        <p:nvSpPr>
          <p:cNvPr id="35" name="Text 29"/>
          <p:cNvSpPr/>
          <p:nvPr/>
        </p:nvSpPr>
        <p:spPr>
          <a:xfrm>
            <a:off x="8540496" y="3611880"/>
            <a:ext cx="3218688" cy="274320"/>
          </a:xfrm>
          <a:prstGeom prst="rect">
            <a:avLst/>
          </a:prstGeom>
          <a:noFill/>
          <a:ln/>
        </p:spPr>
        <p:txBody>
          <a:bodyPr wrap="square" lIns="0" tIns="0" rIns="0" bIns="0" rtlCol="0" anchor="ctr"/>
          <a:lstStyle/>
          <a:p>
            <a:pPr marL="0" indent="0" algn="ctr">
              <a:buNone/>
            </a:pPr>
            <a:r>
              <a:rPr lang="en-US" sz="1100" b="1" kern="0" spc="400" dirty="0">
                <a:solidFill>
                  <a:srgbClr val="C8102E"/>
                </a:solidFill>
                <a:latin typeface="Calibri" pitchFamily="34" charset="0"/>
                <a:ea typeface="Calibri" pitchFamily="34" charset="-122"/>
                <a:cs typeface="Calibri" pitchFamily="34" charset="-120"/>
              </a:rPr>
              <a:t>ROADMAP</a:t>
            </a:r>
            <a:endParaRPr lang="en-US" sz="1100" dirty="0"/>
          </a:p>
        </p:txBody>
      </p:sp>
      <p:sp>
        <p:nvSpPr>
          <p:cNvPr id="36" name="Text 30"/>
          <p:cNvSpPr/>
          <p:nvPr/>
        </p:nvSpPr>
        <p:spPr>
          <a:xfrm>
            <a:off x="8540496" y="3931920"/>
            <a:ext cx="3218688" cy="457200"/>
          </a:xfrm>
          <a:prstGeom prst="rect">
            <a:avLst/>
          </a:prstGeom>
          <a:noFill/>
          <a:ln/>
        </p:spPr>
        <p:txBody>
          <a:bodyPr wrap="square" lIns="0" tIns="0" rIns="0" bIns="0" rtlCol="0" anchor="ctr"/>
          <a:lstStyle/>
          <a:p>
            <a:pPr marL="0" indent="0" algn="ctr">
              <a:buNone/>
            </a:pPr>
            <a:r>
              <a:rPr lang="en-US" sz="2000" b="1" dirty="0">
                <a:solidFill>
                  <a:srgbClr val="001F5B"/>
                </a:solidFill>
                <a:latin typeface="Georgia" pitchFamily="34" charset="0"/>
                <a:ea typeface="Georgia" pitchFamily="34" charset="-122"/>
                <a:cs typeface="Georgia" pitchFamily="34" charset="-120"/>
              </a:rPr>
              <a:t>Future Work</a:t>
            </a:r>
            <a:endParaRPr lang="en-US" sz="2000" dirty="0"/>
          </a:p>
        </p:txBody>
      </p:sp>
      <p:sp>
        <p:nvSpPr>
          <p:cNvPr id="37" name="Shape 31"/>
          <p:cNvSpPr/>
          <p:nvPr/>
        </p:nvSpPr>
        <p:spPr>
          <a:xfrm>
            <a:off x="9784080" y="4434840"/>
            <a:ext cx="731520" cy="0"/>
          </a:xfrm>
          <a:prstGeom prst="line">
            <a:avLst/>
          </a:prstGeom>
          <a:noFill/>
          <a:ln w="19050">
            <a:solidFill>
              <a:srgbClr val="C8102E"/>
            </a:solidFill>
            <a:prstDash val="solid"/>
          </a:ln>
        </p:spPr>
        <p:txBody>
          <a:bodyPr/>
          <a:lstStyle/>
          <a:p>
            <a:endParaRPr lang="en-US"/>
          </a:p>
        </p:txBody>
      </p:sp>
      <p:sp>
        <p:nvSpPr>
          <p:cNvPr id="38" name="Text 32"/>
          <p:cNvSpPr/>
          <p:nvPr/>
        </p:nvSpPr>
        <p:spPr>
          <a:xfrm>
            <a:off x="8586216" y="4617720"/>
            <a:ext cx="3127248" cy="1554480"/>
          </a:xfrm>
          <a:prstGeom prst="rect">
            <a:avLst/>
          </a:prstGeom>
          <a:noFill/>
          <a:ln/>
        </p:spPr>
        <p:txBody>
          <a:bodyPr wrap="square" lIns="0" tIns="0" rIns="0" bIns="0" rtlCol="0" anchor="t"/>
          <a:lstStyle/>
          <a:p>
            <a:pPr algn="ctr"/>
            <a:r>
              <a:rPr lang="en-US" sz="1400" dirty="0"/>
              <a:t>To improve this project in the future, I would prioritize expanding the dataset to include more diverse, modern patient records to ensure the model generalizes better across different ethnicities and age groups.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1F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001F5B"/>
          </a:solidFill>
          <a:ln w="12700">
            <a:solidFill>
              <a:srgbClr val="001F5B"/>
            </a:solidFill>
            <a:prstDash val="solid"/>
          </a:ln>
        </p:spPr>
        <p:txBody>
          <a:bodyPr/>
          <a:lstStyle/>
          <a:p>
            <a:endParaRPr lang="en-US"/>
          </a:p>
        </p:txBody>
      </p:sp>
      <p:sp>
        <p:nvSpPr>
          <p:cNvPr id="3" name="Shape 1"/>
          <p:cNvSpPr/>
          <p:nvPr/>
        </p:nvSpPr>
        <p:spPr>
          <a:xfrm>
            <a:off x="0" y="0"/>
            <a:ext cx="320040" cy="320040"/>
          </a:xfrm>
          <a:prstGeom prst="rect">
            <a:avLst/>
          </a:prstGeom>
          <a:solidFill>
            <a:srgbClr val="C8102E"/>
          </a:solidFill>
          <a:ln w="12700">
            <a:solidFill>
              <a:srgbClr val="C8102E"/>
            </a:solidFill>
            <a:prstDash val="solid"/>
          </a:ln>
        </p:spPr>
        <p:txBody>
          <a:bodyPr/>
          <a:lstStyle/>
          <a:p>
            <a:endParaRPr lang="en-US"/>
          </a:p>
        </p:txBody>
      </p:sp>
      <p:sp>
        <p:nvSpPr>
          <p:cNvPr id="4" name="Text 2"/>
          <p:cNvSpPr/>
          <p:nvPr/>
        </p:nvSpPr>
        <p:spPr>
          <a:xfrm>
            <a:off x="457200" y="0"/>
            <a:ext cx="2743200" cy="320040"/>
          </a:xfrm>
          <a:prstGeom prst="rect">
            <a:avLst/>
          </a:prstGeom>
          <a:noFill/>
          <a:ln/>
        </p:spPr>
        <p:txBody>
          <a:bodyPr wrap="square" lIns="0" tIns="0" rIns="0" bIns="0" rtlCol="0" anchor="ctr"/>
          <a:lstStyle/>
          <a:p>
            <a:pPr marL="0" indent="0">
              <a:buNone/>
            </a:pPr>
            <a:r>
              <a:rPr lang="en-US" sz="900" b="1" kern="0" spc="300" dirty="0">
                <a:solidFill>
                  <a:srgbClr val="FFFFFF"/>
                </a:solidFill>
                <a:latin typeface="Calibri" pitchFamily="34" charset="0"/>
                <a:ea typeface="Calibri" pitchFamily="34" charset="-122"/>
                <a:cs typeface="Calibri" pitchFamily="34" charset="-120"/>
              </a:rPr>
              <a:t>CATAWBA COLLEGE</a:t>
            </a:r>
            <a:endParaRPr lang="en-US" sz="900" dirty="0"/>
          </a:p>
        </p:txBody>
      </p:sp>
      <p:sp>
        <p:nvSpPr>
          <p:cNvPr id="5" name="Text 3"/>
          <p:cNvSpPr/>
          <p:nvPr/>
        </p:nvSpPr>
        <p:spPr>
          <a:xfrm>
            <a:off x="8076895" y="0"/>
            <a:ext cx="3657600" cy="320040"/>
          </a:xfrm>
          <a:prstGeom prst="rect">
            <a:avLst/>
          </a:prstGeom>
          <a:noFill/>
          <a:ln/>
        </p:spPr>
        <p:txBody>
          <a:bodyPr wrap="square" lIns="0" tIns="0" rIns="0" bIns="0" rtlCol="0" anchor="ctr"/>
          <a:lstStyle/>
          <a:p>
            <a:pPr marL="0" indent="0" algn="r">
              <a:buNone/>
            </a:pPr>
            <a:r>
              <a:rPr lang="en-US" sz="900" kern="0" spc="200" dirty="0">
                <a:solidFill>
                  <a:srgbClr val="FFFFFF"/>
                </a:solidFill>
                <a:latin typeface="Calibri" pitchFamily="34" charset="0"/>
                <a:ea typeface="Calibri" pitchFamily="34" charset="-122"/>
                <a:cs typeface="Calibri" pitchFamily="34" charset="-120"/>
              </a:rPr>
              <a:t>09 · REFERENCES</a:t>
            </a:r>
            <a:endParaRPr lang="en-US" sz="900" dirty="0"/>
          </a:p>
        </p:txBody>
      </p:sp>
      <p:sp>
        <p:nvSpPr>
          <p:cNvPr id="6" name="Shape 4"/>
          <p:cNvSpPr/>
          <p:nvPr/>
        </p:nvSpPr>
        <p:spPr>
          <a:xfrm>
            <a:off x="457200" y="6492240"/>
            <a:ext cx="11277295" cy="0"/>
          </a:xfrm>
          <a:prstGeom prst="line">
            <a:avLst/>
          </a:prstGeom>
          <a:noFill/>
          <a:ln w="9525">
            <a:solidFill>
              <a:srgbClr val="E5E7EB"/>
            </a:solidFill>
            <a:prstDash val="solid"/>
          </a:ln>
        </p:spPr>
        <p:txBody>
          <a:bodyPr/>
          <a:lstStyle/>
          <a:p>
            <a:endParaRPr lang="en-US"/>
          </a:p>
        </p:txBody>
      </p:sp>
      <p:sp>
        <p:nvSpPr>
          <p:cNvPr id="7" name="Text 5"/>
          <p:cNvSpPr/>
          <p:nvPr/>
        </p:nvSpPr>
        <p:spPr>
          <a:xfrm>
            <a:off x="457200" y="6537960"/>
            <a:ext cx="4572000" cy="27432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8" name="Text 6"/>
          <p:cNvSpPr/>
          <p:nvPr/>
        </p:nvSpPr>
        <p:spPr>
          <a:xfrm>
            <a:off x="10362895" y="6537960"/>
            <a:ext cx="13716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10</a:t>
            </a:r>
            <a:endParaRPr lang="en-US" sz="900" dirty="0"/>
          </a:p>
        </p:txBody>
      </p:sp>
      <p:sp>
        <p:nvSpPr>
          <p:cNvPr id="9" name="Shape 7"/>
          <p:cNvSpPr/>
          <p:nvPr/>
        </p:nvSpPr>
        <p:spPr>
          <a:xfrm>
            <a:off x="11643055" y="6400800"/>
            <a:ext cx="228600" cy="36576"/>
          </a:xfrm>
          <a:prstGeom prst="rect">
            <a:avLst/>
          </a:prstGeom>
          <a:solidFill>
            <a:srgbClr val="C8102E"/>
          </a:solidFill>
          <a:ln w="12700">
            <a:solidFill>
              <a:srgbClr val="C8102E"/>
            </a:solidFill>
            <a:prstDash val="solid"/>
          </a:ln>
        </p:spPr>
        <p:txBody>
          <a:bodyPr/>
          <a:lstStyle/>
          <a:p>
            <a:endParaRPr lang="en-US"/>
          </a:p>
        </p:txBody>
      </p:sp>
      <p:sp>
        <p:nvSpPr>
          <p:cNvPr id="10" name="Shape 8"/>
          <p:cNvSpPr/>
          <p:nvPr/>
        </p:nvSpPr>
        <p:spPr>
          <a:xfrm>
            <a:off x="0" y="6400800"/>
            <a:ext cx="12191695" cy="457200"/>
          </a:xfrm>
          <a:prstGeom prst="rect">
            <a:avLst/>
          </a:prstGeom>
          <a:solidFill>
            <a:srgbClr val="FFFFFF"/>
          </a:solidFill>
          <a:ln w="12700">
            <a:solidFill>
              <a:srgbClr val="FFFFFF"/>
            </a:solidFill>
            <a:prstDash val="solid"/>
          </a:ln>
        </p:spPr>
        <p:txBody>
          <a:bodyPr/>
          <a:lstStyle/>
          <a:p>
            <a:endParaRPr lang="en-US"/>
          </a:p>
        </p:txBody>
      </p:sp>
      <p:sp>
        <p:nvSpPr>
          <p:cNvPr id="11" name="Shape 9"/>
          <p:cNvSpPr/>
          <p:nvPr/>
        </p:nvSpPr>
        <p:spPr>
          <a:xfrm>
            <a:off x="11643055" y="6821424"/>
            <a:ext cx="228600" cy="36576"/>
          </a:xfrm>
          <a:prstGeom prst="rect">
            <a:avLst/>
          </a:prstGeom>
          <a:solidFill>
            <a:srgbClr val="C8102E"/>
          </a:solidFill>
          <a:ln w="12700">
            <a:solidFill>
              <a:srgbClr val="C8102E"/>
            </a:solidFill>
            <a:prstDash val="solid"/>
          </a:ln>
        </p:spPr>
        <p:txBody>
          <a:bodyPr/>
          <a:lstStyle/>
          <a:p>
            <a:endParaRPr lang="en-US"/>
          </a:p>
        </p:txBody>
      </p:sp>
      <p:sp>
        <p:nvSpPr>
          <p:cNvPr id="12" name="Text 10"/>
          <p:cNvSpPr/>
          <p:nvPr/>
        </p:nvSpPr>
        <p:spPr>
          <a:xfrm>
            <a:off x="457200" y="6400800"/>
            <a:ext cx="4572000" cy="45720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Data Mining · Final Project</a:t>
            </a:r>
            <a:endParaRPr lang="en-US" sz="900" dirty="0"/>
          </a:p>
        </p:txBody>
      </p:sp>
      <p:sp>
        <p:nvSpPr>
          <p:cNvPr id="13" name="Text 11"/>
          <p:cNvSpPr/>
          <p:nvPr/>
        </p:nvSpPr>
        <p:spPr>
          <a:xfrm>
            <a:off x="10362895" y="6400800"/>
            <a:ext cx="1371600" cy="4572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10</a:t>
            </a:r>
            <a:endParaRPr lang="en-US" sz="900" dirty="0"/>
          </a:p>
        </p:txBody>
      </p:sp>
      <p:sp>
        <p:nvSpPr>
          <p:cNvPr id="14" name="Shape 12"/>
          <p:cNvSpPr/>
          <p:nvPr/>
        </p:nvSpPr>
        <p:spPr>
          <a:xfrm>
            <a:off x="457200" y="777240"/>
            <a:ext cx="73152" cy="822960"/>
          </a:xfrm>
          <a:prstGeom prst="rect">
            <a:avLst/>
          </a:prstGeom>
          <a:solidFill>
            <a:srgbClr val="C8102E"/>
          </a:solidFill>
          <a:ln w="12700">
            <a:solidFill>
              <a:srgbClr val="C8102E"/>
            </a:solidFill>
            <a:prstDash val="solid"/>
          </a:ln>
        </p:spPr>
        <p:txBody>
          <a:bodyPr/>
          <a:lstStyle/>
          <a:p>
            <a:endParaRPr lang="en-US"/>
          </a:p>
        </p:txBody>
      </p:sp>
      <p:sp>
        <p:nvSpPr>
          <p:cNvPr id="15" name="Shape 13"/>
          <p:cNvSpPr/>
          <p:nvPr/>
        </p:nvSpPr>
        <p:spPr>
          <a:xfrm>
            <a:off x="731520" y="822960"/>
            <a:ext cx="731520" cy="731520"/>
          </a:xfrm>
          <a:prstGeom prst="ellipse">
            <a:avLst/>
          </a:prstGeom>
          <a:solidFill>
            <a:srgbClr val="C8102E"/>
          </a:solidFill>
          <a:ln w="12700">
            <a:solidFill>
              <a:srgbClr val="C8102E"/>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896112" y="987552"/>
            <a:ext cx="402336" cy="402336"/>
          </a:xfrm>
          <a:prstGeom prst="rect">
            <a:avLst/>
          </a:prstGeom>
        </p:spPr>
      </p:pic>
      <p:sp>
        <p:nvSpPr>
          <p:cNvPr id="17" name="Text 14"/>
          <p:cNvSpPr/>
          <p:nvPr/>
        </p:nvSpPr>
        <p:spPr>
          <a:xfrm>
            <a:off x="1645920" y="749808"/>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References &amp; Acknowledgments</a:t>
            </a:r>
            <a:endParaRPr lang="en-US" sz="3000" dirty="0"/>
          </a:p>
        </p:txBody>
      </p:sp>
      <p:sp>
        <p:nvSpPr>
          <p:cNvPr id="18" name="Text 15"/>
          <p:cNvSpPr/>
          <p:nvPr/>
        </p:nvSpPr>
        <p:spPr>
          <a:xfrm>
            <a:off x="1645920" y="1261872"/>
            <a:ext cx="9601200" cy="320040"/>
          </a:xfrm>
          <a:prstGeom prst="rect">
            <a:avLst/>
          </a:prstGeom>
          <a:noFill/>
          <a:ln/>
        </p:spPr>
        <p:txBody>
          <a:bodyPr wrap="square" lIns="0" tIns="0" rIns="0" bIns="0" rtlCol="0" anchor="ctr"/>
          <a:lstStyle/>
          <a:p>
            <a:pPr marL="0" indent="0">
              <a:buNone/>
            </a:pPr>
            <a:r>
              <a:rPr lang="en-US" sz="1200" i="1" dirty="0">
                <a:solidFill>
                  <a:srgbClr val="A9B8D4"/>
                </a:solidFill>
                <a:latin typeface="Calibri" pitchFamily="34" charset="0"/>
                <a:ea typeface="Calibri" pitchFamily="34" charset="-122"/>
                <a:cs typeface="Calibri" pitchFamily="34" charset="-120"/>
              </a:rPr>
              <a:t>Include use of AI</a:t>
            </a:r>
            <a:endParaRPr lang="en-US" sz="1200" dirty="0"/>
          </a:p>
        </p:txBody>
      </p:sp>
      <p:sp>
        <p:nvSpPr>
          <p:cNvPr id="19" name="Text 16"/>
          <p:cNvSpPr/>
          <p:nvPr/>
        </p:nvSpPr>
        <p:spPr>
          <a:xfrm>
            <a:off x="457200" y="2011680"/>
            <a:ext cx="502920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DATA SOURCES</a:t>
            </a:r>
            <a:endParaRPr lang="en-US" sz="1100" dirty="0"/>
          </a:p>
        </p:txBody>
      </p:sp>
      <p:sp>
        <p:nvSpPr>
          <p:cNvPr id="20" name="Shape 17"/>
          <p:cNvSpPr/>
          <p:nvPr/>
        </p:nvSpPr>
        <p:spPr>
          <a:xfrm>
            <a:off x="457200" y="2331720"/>
            <a:ext cx="1371600" cy="0"/>
          </a:xfrm>
          <a:prstGeom prst="line">
            <a:avLst/>
          </a:prstGeom>
          <a:noFill/>
          <a:ln w="15875">
            <a:solidFill>
              <a:srgbClr val="C8102E"/>
            </a:solidFill>
            <a:prstDash val="solid"/>
          </a:ln>
        </p:spPr>
        <p:txBody>
          <a:bodyPr/>
          <a:lstStyle/>
          <a:p>
            <a:endParaRPr lang="en-US"/>
          </a:p>
        </p:txBody>
      </p:sp>
      <p:sp>
        <p:nvSpPr>
          <p:cNvPr id="21" name="Text 18"/>
          <p:cNvSpPr/>
          <p:nvPr/>
        </p:nvSpPr>
        <p:spPr>
          <a:xfrm>
            <a:off x="457200" y="2514600"/>
            <a:ext cx="5029200" cy="320040"/>
          </a:xfrm>
          <a:prstGeom prst="rect">
            <a:avLst/>
          </a:prstGeom>
          <a:noFill/>
          <a:ln/>
        </p:spPr>
        <p:txBody>
          <a:bodyPr wrap="square" lIns="0" tIns="0" rIns="0" bIns="0" rtlCol="0" anchor="ctr"/>
          <a:lstStyle/>
          <a:p>
            <a:r>
              <a:rPr lang="en-US" sz="1200" dirty="0">
                <a:solidFill>
                  <a:schemeClr val="bg1"/>
                </a:solidFill>
                <a:latin typeface="Georgia" panose="02040502050405020303" pitchFamily="18" charset="0"/>
              </a:rPr>
              <a:t>Janosi, A., </a:t>
            </a:r>
            <a:r>
              <a:rPr lang="en-US" sz="1200" dirty="0" err="1">
                <a:solidFill>
                  <a:schemeClr val="bg1"/>
                </a:solidFill>
                <a:latin typeface="Georgia" panose="02040502050405020303" pitchFamily="18" charset="0"/>
              </a:rPr>
              <a:t>Steinbrunn</a:t>
            </a:r>
            <a:r>
              <a:rPr lang="en-US" sz="1200" dirty="0">
                <a:solidFill>
                  <a:schemeClr val="bg1"/>
                </a:solidFill>
                <a:latin typeface="Georgia" panose="02040502050405020303" pitchFamily="18" charset="0"/>
              </a:rPr>
              <a:t>, W., Pfisterer, M., &amp; Detrano, R. (1988). Heart Disease [Dataset]. UCI Machine Learning Repository. | </a:t>
            </a:r>
            <a:r>
              <a:rPr lang="en-US" sz="1200" dirty="0">
                <a:hlinkClick r:id="rId4"/>
              </a:rPr>
              <a:t>https://archive.ics.uci.edu/dataset/45/heart+disease</a:t>
            </a:r>
            <a:endParaRPr lang="en-US" sz="1200" dirty="0"/>
          </a:p>
        </p:txBody>
      </p:sp>
      <p:sp>
        <p:nvSpPr>
          <p:cNvPr id="22" name="Text 19"/>
          <p:cNvSpPr/>
          <p:nvPr/>
        </p:nvSpPr>
        <p:spPr>
          <a:xfrm>
            <a:off x="457200" y="2880360"/>
            <a:ext cx="5029200" cy="320040"/>
          </a:xfrm>
          <a:prstGeom prst="rect">
            <a:avLst/>
          </a:prstGeom>
          <a:noFill/>
          <a:ln/>
        </p:spPr>
        <p:txBody>
          <a:bodyPr wrap="square" lIns="0" tIns="0" rIns="0" bIns="0" rtlCol="0" anchor="ctr"/>
          <a:lstStyle/>
          <a:p>
            <a:pPr marL="0" indent="0">
              <a:buNone/>
            </a:pPr>
            <a:endParaRPr lang="en-US" sz="1200" i="1" dirty="0">
              <a:solidFill>
                <a:srgbClr val="FFFFFF"/>
              </a:solidFill>
              <a:latin typeface="Calibri" pitchFamily="34" charset="0"/>
              <a:ea typeface="Calibri" pitchFamily="34" charset="-122"/>
              <a:cs typeface="Calibri" pitchFamily="34" charset="-120"/>
            </a:endParaRPr>
          </a:p>
          <a:p>
            <a:pPr marL="0" indent="0">
              <a:buNone/>
            </a:pPr>
            <a:endParaRPr lang="en-US" sz="1200" i="1" dirty="0">
              <a:solidFill>
                <a:srgbClr val="FFFFFF"/>
              </a:solidFill>
              <a:latin typeface="Calibri" pitchFamily="34" charset="0"/>
              <a:ea typeface="Calibri" pitchFamily="34" charset="-122"/>
              <a:cs typeface="Calibri" pitchFamily="34" charset="-120"/>
            </a:endParaRPr>
          </a:p>
          <a:p>
            <a:pPr marL="0" indent="0">
              <a:buNone/>
            </a:pPr>
            <a:r>
              <a:rPr lang="en-US" sz="1200" i="1" dirty="0">
                <a:solidFill>
                  <a:srgbClr val="FFFFFF"/>
                </a:solidFill>
                <a:latin typeface="Calibri" pitchFamily="34" charset="0"/>
                <a:ea typeface="Calibri" pitchFamily="34" charset="-122"/>
                <a:cs typeface="Calibri" pitchFamily="34" charset="-120"/>
              </a:rPr>
              <a:t>Google Gemini AI</a:t>
            </a:r>
            <a:endParaRPr lang="en-US" sz="1200" dirty="0"/>
          </a:p>
        </p:txBody>
      </p:sp>
      <p:sp>
        <p:nvSpPr>
          <p:cNvPr id="23" name="Text 20"/>
          <p:cNvSpPr/>
          <p:nvPr/>
        </p:nvSpPr>
        <p:spPr>
          <a:xfrm>
            <a:off x="457200" y="3246120"/>
            <a:ext cx="5029200" cy="320040"/>
          </a:xfrm>
          <a:prstGeom prst="rect">
            <a:avLst/>
          </a:prstGeom>
          <a:noFill/>
          <a:ln/>
        </p:spPr>
        <p:txBody>
          <a:bodyPr wrap="square" lIns="0" tIns="0" rIns="0" bIns="0" rtlCol="0" anchor="ctr"/>
          <a:lstStyle/>
          <a:p>
            <a:pPr marL="0" indent="0">
              <a:buNone/>
            </a:pPr>
            <a:endParaRPr lang="en-US" sz="1200" dirty="0"/>
          </a:p>
        </p:txBody>
      </p:sp>
      <p:sp>
        <p:nvSpPr>
          <p:cNvPr id="24" name="Text 21"/>
          <p:cNvSpPr/>
          <p:nvPr/>
        </p:nvSpPr>
        <p:spPr>
          <a:xfrm>
            <a:off x="457200" y="3931920"/>
            <a:ext cx="502920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TOOLS &amp; LIBRARIES</a:t>
            </a:r>
            <a:endParaRPr lang="en-US" sz="1100" dirty="0"/>
          </a:p>
        </p:txBody>
      </p:sp>
      <p:sp>
        <p:nvSpPr>
          <p:cNvPr id="25" name="Shape 22"/>
          <p:cNvSpPr/>
          <p:nvPr/>
        </p:nvSpPr>
        <p:spPr>
          <a:xfrm>
            <a:off x="457200" y="4251960"/>
            <a:ext cx="1371600" cy="0"/>
          </a:xfrm>
          <a:prstGeom prst="line">
            <a:avLst/>
          </a:prstGeom>
          <a:noFill/>
          <a:ln w="15875">
            <a:solidFill>
              <a:srgbClr val="C8102E"/>
            </a:solidFill>
            <a:prstDash val="solid"/>
          </a:ln>
        </p:spPr>
        <p:txBody>
          <a:bodyPr/>
          <a:lstStyle/>
          <a:p>
            <a:endParaRPr lang="en-US"/>
          </a:p>
        </p:txBody>
      </p:sp>
      <p:sp>
        <p:nvSpPr>
          <p:cNvPr id="26" name="Shape 23"/>
          <p:cNvSpPr/>
          <p:nvPr/>
        </p:nvSpPr>
        <p:spPr>
          <a:xfrm>
            <a:off x="457200" y="4480560"/>
            <a:ext cx="941832"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27" name="Text 24"/>
          <p:cNvSpPr/>
          <p:nvPr/>
        </p:nvSpPr>
        <p:spPr>
          <a:xfrm>
            <a:off x="457200" y="4480560"/>
            <a:ext cx="941832"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Python</a:t>
            </a:r>
            <a:endParaRPr lang="en-US" sz="1100" dirty="0"/>
          </a:p>
        </p:txBody>
      </p:sp>
      <p:sp>
        <p:nvSpPr>
          <p:cNvPr id="28" name="Shape 25"/>
          <p:cNvSpPr/>
          <p:nvPr/>
        </p:nvSpPr>
        <p:spPr>
          <a:xfrm>
            <a:off x="1508760" y="4480560"/>
            <a:ext cx="1060704"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29" name="Text 26"/>
          <p:cNvSpPr/>
          <p:nvPr/>
        </p:nvSpPr>
        <p:spPr>
          <a:xfrm>
            <a:off x="1508760" y="4480560"/>
            <a:ext cx="1060704"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PyCaret</a:t>
            </a:r>
            <a:endParaRPr lang="en-US" sz="1100" dirty="0"/>
          </a:p>
        </p:txBody>
      </p:sp>
      <p:sp>
        <p:nvSpPr>
          <p:cNvPr id="30" name="Shape 27"/>
          <p:cNvSpPr/>
          <p:nvPr/>
        </p:nvSpPr>
        <p:spPr>
          <a:xfrm>
            <a:off x="2679192" y="4480560"/>
            <a:ext cx="1655064"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1" name="Text 28"/>
          <p:cNvSpPr/>
          <p:nvPr/>
        </p:nvSpPr>
        <p:spPr>
          <a:xfrm>
            <a:off x="2679192" y="4480560"/>
            <a:ext cx="1655064"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scikit-learn</a:t>
            </a:r>
            <a:endParaRPr lang="en-US" sz="1100" dirty="0"/>
          </a:p>
        </p:txBody>
      </p:sp>
      <p:sp>
        <p:nvSpPr>
          <p:cNvPr id="32" name="Shape 29"/>
          <p:cNvSpPr/>
          <p:nvPr/>
        </p:nvSpPr>
        <p:spPr>
          <a:xfrm>
            <a:off x="4443984" y="4480560"/>
            <a:ext cx="941832"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3" name="Text 30"/>
          <p:cNvSpPr/>
          <p:nvPr/>
        </p:nvSpPr>
        <p:spPr>
          <a:xfrm>
            <a:off x="4443984" y="4480560"/>
            <a:ext cx="941832"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34" name="Shape 31"/>
          <p:cNvSpPr/>
          <p:nvPr/>
        </p:nvSpPr>
        <p:spPr>
          <a:xfrm>
            <a:off x="457200" y="4983480"/>
            <a:ext cx="1417320"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5" name="Text 32"/>
          <p:cNvSpPr/>
          <p:nvPr/>
        </p:nvSpPr>
        <p:spPr>
          <a:xfrm>
            <a:off x="457200" y="4983480"/>
            <a:ext cx="141732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matplotlib</a:t>
            </a:r>
            <a:endParaRPr lang="en-US" sz="1100" dirty="0"/>
          </a:p>
        </p:txBody>
      </p:sp>
      <p:sp>
        <p:nvSpPr>
          <p:cNvPr id="36" name="Shape 33"/>
          <p:cNvSpPr/>
          <p:nvPr/>
        </p:nvSpPr>
        <p:spPr>
          <a:xfrm>
            <a:off x="1984248" y="4983480"/>
            <a:ext cx="1060704" cy="365760"/>
          </a:xfrm>
          <a:prstGeom prst="roundRect">
            <a:avLst>
              <a:gd name="adj" fmla="val 20000"/>
            </a:avLst>
          </a:prstGeom>
          <a:solidFill>
            <a:srgbClr val="001F5B">
              <a:alpha val="0"/>
            </a:srgbClr>
          </a:solidFill>
          <a:ln w="12700">
            <a:solidFill>
              <a:srgbClr val="FFFFFF"/>
            </a:solidFill>
            <a:prstDash val="solid"/>
          </a:ln>
        </p:spPr>
        <p:txBody>
          <a:bodyPr/>
          <a:lstStyle/>
          <a:p>
            <a:endParaRPr lang="en-US"/>
          </a:p>
        </p:txBody>
      </p:sp>
      <p:sp>
        <p:nvSpPr>
          <p:cNvPr id="37" name="Text 34"/>
          <p:cNvSpPr/>
          <p:nvPr/>
        </p:nvSpPr>
        <p:spPr>
          <a:xfrm>
            <a:off x="1984248" y="4983480"/>
            <a:ext cx="1060704"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onsolas" pitchFamily="34" charset="0"/>
                <a:ea typeface="Consolas" pitchFamily="34" charset="-122"/>
                <a:cs typeface="Consolas" pitchFamily="34" charset="-120"/>
              </a:rPr>
              <a:t>AutoViz</a:t>
            </a:r>
            <a:endParaRPr lang="en-US" sz="1100" dirty="0"/>
          </a:p>
        </p:txBody>
      </p:sp>
      <p:sp>
        <p:nvSpPr>
          <p:cNvPr id="38" name="Shape 35"/>
          <p:cNvSpPr/>
          <p:nvPr/>
        </p:nvSpPr>
        <p:spPr>
          <a:xfrm>
            <a:off x="5943600" y="2011680"/>
            <a:ext cx="5760720" cy="2286000"/>
          </a:xfrm>
          <a:prstGeom prst="rect">
            <a:avLst/>
          </a:prstGeom>
          <a:solidFill>
            <a:srgbClr val="00143D"/>
          </a:solidFill>
          <a:ln w="9525">
            <a:solidFill>
              <a:srgbClr val="1A3A7A"/>
            </a:solidFill>
            <a:prstDash val="solid"/>
          </a:ln>
        </p:spPr>
        <p:txBody>
          <a:bodyPr/>
          <a:lstStyle/>
          <a:p>
            <a:endParaRPr lang="en-US"/>
          </a:p>
        </p:txBody>
      </p:sp>
      <p:sp>
        <p:nvSpPr>
          <p:cNvPr id="39" name="Shape 36"/>
          <p:cNvSpPr/>
          <p:nvPr/>
        </p:nvSpPr>
        <p:spPr>
          <a:xfrm>
            <a:off x="5943600" y="2011680"/>
            <a:ext cx="91440" cy="2286000"/>
          </a:xfrm>
          <a:prstGeom prst="rect">
            <a:avLst/>
          </a:prstGeom>
          <a:solidFill>
            <a:srgbClr val="C8102E"/>
          </a:solidFill>
          <a:ln w="12700">
            <a:solidFill>
              <a:srgbClr val="C8102E"/>
            </a:solidFill>
            <a:prstDash val="solid"/>
          </a:ln>
        </p:spPr>
        <p:txBody>
          <a:bodyPr/>
          <a:lstStyle/>
          <a:p>
            <a:endParaRPr lang="en-US"/>
          </a:p>
        </p:txBody>
      </p:sp>
      <p:sp>
        <p:nvSpPr>
          <p:cNvPr id="40" name="Text 37"/>
          <p:cNvSpPr/>
          <p:nvPr/>
        </p:nvSpPr>
        <p:spPr>
          <a:xfrm>
            <a:off x="6263640" y="2286000"/>
            <a:ext cx="3200400" cy="274320"/>
          </a:xfrm>
          <a:prstGeom prst="rect">
            <a:avLst/>
          </a:prstGeom>
          <a:noFill/>
          <a:ln/>
        </p:spPr>
        <p:txBody>
          <a:bodyPr wrap="square" lIns="0" tIns="0" rIns="0" bIns="0" rtlCol="0" anchor="ctr"/>
          <a:lstStyle/>
          <a:p>
            <a:pPr marL="0" indent="0">
              <a:buNone/>
            </a:pPr>
            <a:r>
              <a:rPr lang="en-US" sz="1100" b="1" kern="0" spc="400" dirty="0">
                <a:solidFill>
                  <a:srgbClr val="A9B8D4"/>
                </a:solidFill>
                <a:latin typeface="Calibri" pitchFamily="34" charset="0"/>
                <a:ea typeface="Calibri" pitchFamily="34" charset="-122"/>
                <a:cs typeface="Calibri" pitchFamily="34" charset="-120"/>
              </a:rPr>
              <a:t>GITHUB REPOSITORY</a:t>
            </a:r>
            <a:endParaRPr lang="en-US" sz="1100" dirty="0"/>
          </a:p>
        </p:txBody>
      </p:sp>
      <p:sp>
        <p:nvSpPr>
          <p:cNvPr id="41" name="Text 38"/>
          <p:cNvSpPr/>
          <p:nvPr/>
        </p:nvSpPr>
        <p:spPr>
          <a:xfrm>
            <a:off x="6263640" y="2651760"/>
            <a:ext cx="3200400" cy="411480"/>
          </a:xfrm>
          <a:prstGeom prst="rect">
            <a:avLst/>
          </a:prstGeom>
          <a:noFill/>
          <a:ln/>
        </p:spPr>
        <p:txBody>
          <a:bodyPr wrap="square" lIns="0" tIns="0" rIns="0" bIns="0" rtlCol="0" anchor="ctr"/>
          <a:lstStyle/>
          <a:p>
            <a:pPr marL="0" indent="0">
              <a:buNone/>
            </a:pPr>
            <a:r>
              <a:rPr lang="en-US" sz="1600" i="1" dirty="0">
                <a:solidFill>
                  <a:srgbClr val="FFFFFF"/>
                </a:solidFill>
                <a:latin typeface="Georgia" pitchFamily="34" charset="0"/>
                <a:ea typeface="Georgia" pitchFamily="34" charset="-122"/>
                <a:cs typeface="Georgia" pitchFamily="34" charset="-120"/>
              </a:rPr>
              <a:t>Scan to view code, data &amp; notebooks</a:t>
            </a:r>
            <a:endParaRPr lang="en-US" sz="1600" dirty="0"/>
          </a:p>
        </p:txBody>
      </p:sp>
      <p:sp>
        <p:nvSpPr>
          <p:cNvPr id="42" name="Text 39"/>
          <p:cNvSpPr/>
          <p:nvPr/>
        </p:nvSpPr>
        <p:spPr>
          <a:xfrm>
            <a:off x="6263640" y="3154680"/>
            <a:ext cx="3200400" cy="365760"/>
          </a:xfrm>
          <a:prstGeom prst="rect">
            <a:avLst/>
          </a:prstGeom>
          <a:noFill/>
          <a:ln/>
        </p:spPr>
        <p:txBody>
          <a:bodyPr wrap="square" lIns="0" tIns="0" rIns="0" bIns="0" rtlCol="0" anchor="ctr"/>
          <a:lstStyle/>
          <a:p>
            <a:pPr marL="0" indent="0">
              <a:buNone/>
            </a:pPr>
            <a:endParaRPr lang="en-US" sz="1200" dirty="0"/>
          </a:p>
        </p:txBody>
      </p:sp>
      <p:sp>
        <p:nvSpPr>
          <p:cNvPr id="43" name="Text 40"/>
          <p:cNvSpPr/>
          <p:nvPr/>
        </p:nvSpPr>
        <p:spPr>
          <a:xfrm>
            <a:off x="6263640" y="3566160"/>
            <a:ext cx="3200400" cy="365760"/>
          </a:xfrm>
          <a:prstGeom prst="rect">
            <a:avLst/>
          </a:prstGeom>
          <a:noFill/>
          <a:ln/>
        </p:spPr>
        <p:txBody>
          <a:bodyPr wrap="square" lIns="0" tIns="0" rIns="0" bIns="0" rtlCol="0" anchor="ctr"/>
          <a:lstStyle/>
          <a:p>
            <a:pPr marL="0" indent="0">
              <a:buNone/>
            </a:pPr>
            <a:r>
              <a:rPr lang="en-US" sz="1100" i="1" dirty="0">
                <a:solidFill>
                  <a:srgbClr val="A9B8D4"/>
                </a:solidFill>
                <a:latin typeface="Calibri" pitchFamily="34" charset="0"/>
                <a:ea typeface="Calibri" pitchFamily="34" charset="-122"/>
                <a:cs typeface="Calibri" pitchFamily="34" charset="-120"/>
              </a:rPr>
              <a:t>Issues · Pull Requests welcome</a:t>
            </a:r>
            <a:endParaRPr lang="en-US" sz="1100" dirty="0"/>
          </a:p>
        </p:txBody>
      </p:sp>
      <p:sp>
        <p:nvSpPr>
          <p:cNvPr id="44" name="Shape 41"/>
          <p:cNvSpPr/>
          <p:nvPr/>
        </p:nvSpPr>
        <p:spPr>
          <a:xfrm>
            <a:off x="9875520" y="2286000"/>
            <a:ext cx="1737360" cy="1737360"/>
          </a:xfrm>
          <a:prstGeom prst="rect">
            <a:avLst/>
          </a:prstGeom>
          <a:solidFill>
            <a:srgbClr val="FFFFFF"/>
          </a:solidFill>
          <a:ln w="12700">
            <a:solidFill>
              <a:srgbClr val="FFFFFF"/>
            </a:solidFill>
            <a:prstDash val="solid"/>
          </a:ln>
        </p:spPr>
        <p:txBody>
          <a:bodyPr/>
          <a:lstStyle/>
          <a:p>
            <a:endParaRPr lang="en-US"/>
          </a:p>
        </p:txBody>
      </p:sp>
      <p:sp>
        <p:nvSpPr>
          <p:cNvPr id="45" name="Text 42"/>
          <p:cNvSpPr/>
          <p:nvPr/>
        </p:nvSpPr>
        <p:spPr>
          <a:xfrm>
            <a:off x="9875520" y="2286000"/>
            <a:ext cx="1737360" cy="1737360"/>
          </a:xfrm>
          <a:prstGeom prst="rect">
            <a:avLst/>
          </a:prstGeom>
          <a:noFill/>
          <a:ln/>
        </p:spPr>
        <p:txBody>
          <a:bodyPr wrap="square" lIns="0" tIns="0" rIns="0" bIns="0" rtlCol="0" anchor="ctr"/>
          <a:lstStyle/>
          <a:p>
            <a:pPr marL="0" indent="0" algn="ctr">
              <a:buNone/>
            </a:pPr>
            <a:r>
              <a:rPr lang="en-US" sz="1200" b="1" dirty="0">
                <a:solidFill>
                  <a:srgbClr val="6B7280"/>
                </a:solidFill>
                <a:latin typeface="Calibri" pitchFamily="34" charset="0"/>
                <a:ea typeface="Calibri" pitchFamily="34" charset="-122"/>
                <a:cs typeface="Calibri" pitchFamily="34" charset="-120"/>
              </a:rPr>
              <a:t>[ QR CODE ]</a:t>
            </a:r>
            <a:endParaRPr lang="en-US" sz="1200" dirty="0"/>
          </a:p>
        </p:txBody>
      </p:sp>
      <p:sp>
        <p:nvSpPr>
          <p:cNvPr id="46" name="Shape 43"/>
          <p:cNvSpPr/>
          <p:nvPr/>
        </p:nvSpPr>
        <p:spPr>
          <a:xfrm>
            <a:off x="5943600" y="4572000"/>
            <a:ext cx="5760720" cy="1737360"/>
          </a:xfrm>
          <a:prstGeom prst="rect">
            <a:avLst/>
          </a:prstGeom>
          <a:solidFill>
            <a:srgbClr val="C8102E"/>
          </a:solidFill>
          <a:ln w="12700">
            <a:solidFill>
              <a:srgbClr val="C8102E"/>
            </a:solidFill>
            <a:prstDash val="solid"/>
          </a:ln>
        </p:spPr>
        <p:txBody>
          <a:bodyPr/>
          <a:lstStyle/>
          <a:p>
            <a:endParaRPr lang="en-US"/>
          </a:p>
        </p:txBody>
      </p:sp>
      <p:pic>
        <p:nvPicPr>
          <p:cNvPr id="47" name="Image 1" descr="preencoded.png"/>
          <p:cNvPicPr>
            <a:picLocks noChangeAspect="1"/>
          </p:cNvPicPr>
          <p:nvPr/>
        </p:nvPicPr>
        <p:blipFill>
          <a:blip r:embed="rId5"/>
          <a:stretch>
            <a:fillRect/>
          </a:stretch>
        </p:blipFill>
        <p:spPr>
          <a:xfrm>
            <a:off x="6263640" y="4846320"/>
            <a:ext cx="548640" cy="548640"/>
          </a:xfrm>
          <a:prstGeom prst="rect">
            <a:avLst/>
          </a:prstGeom>
        </p:spPr>
      </p:pic>
      <p:sp>
        <p:nvSpPr>
          <p:cNvPr id="48" name="Text 44"/>
          <p:cNvSpPr/>
          <p:nvPr/>
        </p:nvSpPr>
        <p:spPr>
          <a:xfrm>
            <a:off x="6949440" y="4800600"/>
            <a:ext cx="4572000" cy="365760"/>
          </a:xfrm>
          <a:prstGeom prst="rect">
            <a:avLst/>
          </a:prstGeom>
          <a:noFill/>
          <a:ln/>
        </p:spPr>
        <p:txBody>
          <a:bodyPr wrap="square" lIns="0" tIns="0" rIns="0" bIns="0" rtlCol="0" anchor="ctr"/>
          <a:lstStyle/>
          <a:p>
            <a:pPr marL="0" indent="0">
              <a:buNone/>
            </a:pPr>
            <a:r>
              <a:rPr lang="en-US" sz="1200" b="1" kern="0" spc="600" dirty="0">
                <a:solidFill>
                  <a:srgbClr val="FFFFFF"/>
                </a:solidFill>
                <a:latin typeface="Calibri" pitchFamily="34" charset="0"/>
                <a:ea typeface="Calibri" pitchFamily="34" charset="-122"/>
                <a:cs typeface="Calibri" pitchFamily="34" charset="-120"/>
              </a:rPr>
              <a:t>THANK YOU</a:t>
            </a:r>
            <a:endParaRPr lang="en-US" sz="1200" dirty="0"/>
          </a:p>
        </p:txBody>
      </p:sp>
      <p:sp>
        <p:nvSpPr>
          <p:cNvPr id="49" name="Text 45"/>
          <p:cNvSpPr/>
          <p:nvPr/>
        </p:nvSpPr>
        <p:spPr>
          <a:xfrm>
            <a:off x="6949440" y="5212080"/>
            <a:ext cx="4572000" cy="457200"/>
          </a:xfrm>
          <a:prstGeom prst="rect">
            <a:avLst/>
          </a:prstGeom>
          <a:noFill/>
          <a:ln/>
        </p:spPr>
        <p:txBody>
          <a:bodyPr wrap="square" lIns="0" tIns="0" rIns="0" bIns="0" rtlCol="0" anchor="ctr"/>
          <a:lstStyle/>
          <a:p>
            <a:pPr marL="0" indent="0">
              <a:buNone/>
            </a:pPr>
            <a:r>
              <a:rPr lang="en-US" sz="2200" b="1" i="1" dirty="0">
                <a:solidFill>
                  <a:srgbClr val="FFFFFF"/>
                </a:solidFill>
                <a:latin typeface="Georgia" pitchFamily="34" charset="0"/>
                <a:ea typeface="Georgia" pitchFamily="34" charset="-122"/>
                <a:cs typeface="Georgia" pitchFamily="34" charset="-120"/>
              </a:rPr>
              <a:t>Questions welcome.</a:t>
            </a:r>
            <a:endParaRPr lang="en-US" sz="2200" dirty="0"/>
          </a:p>
        </p:txBody>
      </p:sp>
      <p:sp>
        <p:nvSpPr>
          <p:cNvPr id="50" name="Text 46"/>
          <p:cNvSpPr/>
          <p:nvPr/>
        </p:nvSpPr>
        <p:spPr>
          <a:xfrm>
            <a:off x="6263640" y="5760720"/>
            <a:ext cx="5120640" cy="457200"/>
          </a:xfrm>
          <a:prstGeom prst="rect">
            <a:avLst/>
          </a:prstGeom>
          <a:noFill/>
          <a:ln/>
        </p:spPr>
        <p:txBody>
          <a:bodyPr wrap="square" lIns="0" tIns="0" rIns="0" bIns="0" rtlCol="0" anchor="ctr"/>
          <a:lstStyle/>
          <a:p>
            <a:r>
              <a:rPr lang="en-US" sz="1100" i="1" dirty="0">
                <a:solidFill>
                  <a:schemeClr val="bg1"/>
                </a:solidFill>
                <a:latin typeface="Georgia" panose="02040502050405020303" pitchFamily="18" charset="0"/>
                <a:ea typeface="Calibri" pitchFamily="34" charset="-122"/>
                <a:cs typeface="Calibri" pitchFamily="34" charset="-120"/>
              </a:rPr>
              <a:t> Acknowledgments: Dr. Pamela Thompson | Eric Bass | </a:t>
            </a:r>
            <a:r>
              <a:rPr lang="en-US" sz="1100" i="1" dirty="0">
                <a:solidFill>
                  <a:schemeClr val="bg1"/>
                </a:solidFill>
                <a:latin typeface="Georgia" panose="02040502050405020303" pitchFamily="18" charset="0"/>
              </a:rPr>
              <a:t>Janosi, A., </a:t>
            </a:r>
            <a:r>
              <a:rPr lang="en-US" sz="1100" i="1" dirty="0" err="1">
                <a:solidFill>
                  <a:schemeClr val="bg1"/>
                </a:solidFill>
                <a:latin typeface="Georgia" panose="02040502050405020303" pitchFamily="18" charset="0"/>
              </a:rPr>
              <a:t>Steinbrunn</a:t>
            </a:r>
            <a:r>
              <a:rPr lang="en-US" sz="1100" i="1" dirty="0">
                <a:solidFill>
                  <a:schemeClr val="bg1"/>
                </a:solidFill>
                <a:latin typeface="Georgia" panose="02040502050405020303" pitchFamily="18" charset="0"/>
              </a:rPr>
              <a:t>, W., Pfisterer, M., &amp; Detrano, R. </a:t>
            </a:r>
          </a:p>
        </p:txBody>
      </p:sp>
      <p:pic>
        <p:nvPicPr>
          <p:cNvPr id="52" name="Picture 51">
            <a:extLst>
              <a:ext uri="{FF2B5EF4-FFF2-40B4-BE49-F238E27FC236}">
                <a16:creationId xmlns:a16="http://schemas.microsoft.com/office/drawing/2014/main" id="{35FBBCA7-1605-D055-951E-7BB2838813BC}"/>
              </a:ext>
            </a:extLst>
          </p:cNvPr>
          <p:cNvPicPr>
            <a:picLocks noChangeAspect="1"/>
          </p:cNvPicPr>
          <p:nvPr/>
        </p:nvPicPr>
        <p:blipFill>
          <a:blip r:embed="rId6"/>
          <a:stretch>
            <a:fillRect/>
          </a:stretch>
        </p:blipFill>
        <p:spPr>
          <a:xfrm>
            <a:off x="9905695" y="2278836"/>
            <a:ext cx="1670609" cy="175264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458</TotalTime>
  <Words>1413</Words>
  <Application>Microsoft Office PowerPoint</Application>
  <PresentationFormat>Widescreen</PresentationFormat>
  <Paragraphs>203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Final Project Template</dc:title>
  <dc:subject>PptxGenJS Presentation</dc:subject>
  <dc:creator>Catawba College</dc:creator>
  <cp:lastModifiedBy>Bass, Eric J</cp:lastModifiedBy>
  <cp:revision>19</cp:revision>
  <dcterms:created xsi:type="dcterms:W3CDTF">2026-04-20T02:26:41Z</dcterms:created>
  <dcterms:modified xsi:type="dcterms:W3CDTF">2026-05-02T00:44:23Z</dcterms:modified>
</cp:coreProperties>
</file>